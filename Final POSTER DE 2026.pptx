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27432000" cy="51206400"/>
  <p:notesSz cx="15074900" cy="20104100"/>
  <p:embeddedFontLst>
    <p:embeddedFont>
      <p:font typeface="Arial Black" panose="020B0A04020102020204" pitchFamily="34" charset="0"/>
      <p:regular r:id="rId4"/>
      <p:bold r:id="rId5"/>
    </p:embeddedFont>
    <p:embeddedFont>
      <p:font typeface="Inter" panose="020B060402020202020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336">
          <p15:clr>
            <a:srgbClr val="A4A3A4"/>
          </p15:clr>
        </p15:guide>
        <p15:guide id="2" pos="393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hUSEzDslZ7lQ7cm7eDuwW3W30I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6061" autoAdjust="0"/>
    <p:restoredTop sz="92233" autoAdjust="0"/>
  </p:normalViewPr>
  <p:slideViewPr>
    <p:cSldViewPr snapToGrid="0">
      <p:cViewPr>
        <p:scale>
          <a:sx n="33" d="100"/>
          <a:sy n="33" d="100"/>
        </p:scale>
        <p:origin x="1622" y="-6854"/>
      </p:cViewPr>
      <p:guideLst>
        <p:guide orient="horz" pos="7336"/>
        <p:guide pos="393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6532563" cy="10080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8539163" y="0"/>
            <a:ext cx="6532562" cy="100806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5719763" y="2513013"/>
            <a:ext cx="3635375" cy="678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508125" y="9675813"/>
            <a:ext cx="12058650" cy="791527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262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9096038"/>
            <a:ext cx="6532563" cy="1008062"/>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8539163" y="19096038"/>
            <a:ext cx="6532562" cy="1008062"/>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a:spLocks noGrp="1" noRot="1" noChangeAspect="1"/>
          </p:cNvSpPr>
          <p:nvPr>
            <p:ph type="sldImg" idx="2"/>
          </p:nvPr>
        </p:nvSpPr>
        <p:spPr>
          <a:xfrm>
            <a:off x="5719763" y="2513013"/>
            <a:ext cx="3635375" cy="678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 name="Google Shape;63;p1:notes"/>
          <p:cNvSpPr txBox="1">
            <a:spLocks noGrp="1"/>
          </p:cNvSpPr>
          <p:nvPr>
            <p:ph type="body" idx="1"/>
          </p:nvPr>
        </p:nvSpPr>
        <p:spPr>
          <a:xfrm>
            <a:off x="1508125" y="9675813"/>
            <a:ext cx="12058650" cy="79152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2800"/>
              <a:buFont typeface="Times New Roman"/>
              <a:buNone/>
            </a:pPr>
            <a:r>
              <a:rPr lang="en-US" sz="2800" dirty="0">
                <a:solidFill>
                  <a:schemeClr val="lt1"/>
                </a:solidFill>
                <a:latin typeface="Times New Roman"/>
                <a:ea typeface="Times New Roman"/>
                <a:cs typeface="Times New Roman"/>
                <a:sym typeface="Times New Roman"/>
              </a:rPr>
              <a:t>SAL ENGINEERING &amp; TECHNICAL INSTITUTE – Times New Roman 60.4</a:t>
            </a:r>
            <a:endParaRPr dirty="0"/>
          </a:p>
          <a:p>
            <a:pPr marL="0" marR="0" lvl="0" indent="0" algn="l" rtl="0">
              <a:lnSpc>
                <a:spcPct val="100000"/>
              </a:lnSpc>
              <a:spcBef>
                <a:spcPts val="0"/>
              </a:spcBef>
              <a:spcAft>
                <a:spcPts val="0"/>
              </a:spcAft>
              <a:buClr>
                <a:srgbClr val="2E75B5"/>
              </a:buClr>
              <a:buSzPts val="2800"/>
              <a:buFont typeface="Arial"/>
              <a:buNone/>
            </a:pPr>
            <a:r>
              <a:rPr lang="en-US" sz="2800" b="1" dirty="0">
                <a:solidFill>
                  <a:srgbClr val="2E75B5"/>
                </a:solidFill>
                <a:latin typeface="Arial"/>
                <a:ea typeface="Arial"/>
                <a:cs typeface="Arial"/>
                <a:sym typeface="Arial"/>
              </a:rPr>
              <a:t> POSTER PRESENTATION 2024 </a:t>
            </a:r>
            <a:r>
              <a:rPr lang="en-US" sz="2800" b="1" dirty="0" err="1">
                <a:solidFill>
                  <a:srgbClr val="2E75B5"/>
                </a:solidFill>
                <a:latin typeface="Arial"/>
                <a:ea typeface="Arial"/>
                <a:cs typeface="Arial"/>
                <a:sym typeface="Arial"/>
              </a:rPr>
              <a:t>Bold</a:t>
            </a:r>
            <a:r>
              <a:rPr lang="en-US" dirty="0" err="1"/>
              <a:t>Arial</a:t>
            </a:r>
            <a:r>
              <a:rPr lang="en-US" dirty="0"/>
              <a:t> 52.8</a:t>
            </a:r>
            <a:endParaRPr dirty="0"/>
          </a:p>
          <a:p>
            <a:pPr marL="0" marR="0" lvl="0" indent="0" algn="l" rtl="0">
              <a:lnSpc>
                <a:spcPct val="100000"/>
              </a:lnSpc>
              <a:spcBef>
                <a:spcPts val="0"/>
              </a:spcBef>
              <a:spcAft>
                <a:spcPts val="0"/>
              </a:spcAft>
              <a:buClr>
                <a:schemeClr val="lt1"/>
              </a:buClr>
              <a:buSzPts val="2800"/>
              <a:buFont typeface="Arial"/>
              <a:buNone/>
            </a:pPr>
            <a:r>
              <a:rPr lang="en-US" sz="2800" b="1" dirty="0">
                <a:solidFill>
                  <a:schemeClr val="lt1"/>
                </a:solidFill>
                <a:latin typeface="Arial"/>
                <a:ea typeface="Arial"/>
                <a:cs typeface="Arial"/>
                <a:sym typeface="Arial"/>
              </a:rPr>
              <a:t>Chat Bot for Ecommerce Title Bold Arial MT 60</a:t>
            </a:r>
            <a:endParaRPr dirty="0"/>
          </a:p>
          <a:p>
            <a:pPr marL="0" marR="0" lvl="0" indent="0" algn="l" rtl="0">
              <a:lnSpc>
                <a:spcPct val="100000"/>
              </a:lnSpc>
              <a:spcBef>
                <a:spcPts val="0"/>
              </a:spcBef>
              <a:spcAft>
                <a:spcPts val="0"/>
              </a:spcAft>
              <a:buClr>
                <a:srgbClr val="F2F2F2"/>
              </a:buClr>
              <a:buSzPts val="2800"/>
              <a:buFont typeface="Arial Black"/>
              <a:buNone/>
            </a:pPr>
            <a:r>
              <a:rPr lang="en-US" sz="2800" dirty="0">
                <a:solidFill>
                  <a:srgbClr val="F2F2F2"/>
                </a:solidFill>
                <a:latin typeface="Arial Black"/>
                <a:ea typeface="Arial Black"/>
                <a:cs typeface="Arial Black"/>
                <a:sym typeface="Arial Black"/>
              </a:rPr>
              <a:t>Abstract Arial Black 45.3</a:t>
            </a:r>
            <a:endParaRPr dirty="0"/>
          </a:p>
          <a:p>
            <a:pPr marL="0" marR="274403" lvl="0" indent="0" algn="l" rtl="0">
              <a:spcBef>
                <a:spcPts val="198"/>
              </a:spcBef>
              <a:spcAft>
                <a:spcPts val="0"/>
              </a:spcAft>
              <a:buNone/>
            </a:pPr>
            <a:r>
              <a:rPr lang="en-US" sz="2800" b="1" dirty="0">
                <a:solidFill>
                  <a:schemeClr val="lt1"/>
                </a:solidFill>
                <a:latin typeface="Times New Roman"/>
                <a:ea typeface="Times New Roman"/>
                <a:cs typeface="Times New Roman"/>
                <a:sym typeface="Times New Roman"/>
              </a:rPr>
              <a:t>Presented By:- ABC (21126031001),XYZ (21126031015)   font -  times new roman - 36</a:t>
            </a:r>
            <a:endParaRPr dirty="0"/>
          </a:p>
          <a:p>
            <a:pPr marL="0" marR="274403" lvl="0" indent="0" algn="l" rtl="0">
              <a:spcBef>
                <a:spcPts val="198"/>
              </a:spcBef>
              <a:spcAft>
                <a:spcPts val="0"/>
              </a:spcAft>
              <a:buNone/>
            </a:pPr>
            <a:r>
              <a:rPr lang="en-US" sz="2800" b="1" dirty="0">
                <a:solidFill>
                  <a:schemeClr val="lt1"/>
                </a:solidFill>
                <a:latin typeface="Times New Roman"/>
                <a:ea typeface="Times New Roman"/>
                <a:cs typeface="Times New Roman"/>
                <a:sym typeface="Times New Roman"/>
              </a:rPr>
              <a:t>Guided By:- Prof. Ravi Patel   font -  times new roman - 36</a:t>
            </a:r>
            <a:endParaRPr dirty="0"/>
          </a:p>
          <a:p>
            <a:pPr marL="0" marR="0" lvl="0" indent="0" algn="l" rtl="0">
              <a:lnSpc>
                <a:spcPct val="100000"/>
              </a:lnSpc>
              <a:spcBef>
                <a:spcPts val="0"/>
              </a:spcBef>
              <a:spcAft>
                <a:spcPts val="0"/>
              </a:spcAft>
              <a:buClr>
                <a:schemeClr val="dk1"/>
              </a:buClr>
              <a:buSzPts val="2620"/>
              <a:buFont typeface="Calibri"/>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4" name="Google Shape;64;p1:notes"/>
          <p:cNvSpPr txBox="1">
            <a:spLocks noGrp="1"/>
          </p:cNvSpPr>
          <p:nvPr>
            <p:ph type="sldNum" idx="12"/>
          </p:nvPr>
        </p:nvSpPr>
        <p:spPr>
          <a:xfrm>
            <a:off x="8539163" y="19096038"/>
            <a:ext cx="6532562" cy="100806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33"/>
        <p:cNvGrpSpPr/>
        <p:nvPr/>
      </p:nvGrpSpPr>
      <p:grpSpPr>
        <a:xfrm>
          <a:off x="0" y="0"/>
          <a:ext cx="0" cy="0"/>
          <a:chOff x="0" y="0"/>
          <a:chExt cx="0" cy="0"/>
        </a:xfrm>
      </p:grpSpPr>
      <p:sp>
        <p:nvSpPr>
          <p:cNvPr id="34" name="Google Shape;34;p3"/>
          <p:cNvSpPr txBox="1">
            <a:spLocks noGrp="1"/>
          </p:cNvSpPr>
          <p:nvPr>
            <p:ph type="ftr" idx="11"/>
          </p:nvPr>
        </p:nvSpPr>
        <p:spPr>
          <a:xfrm>
            <a:off x="9330809" y="47621957"/>
            <a:ext cx="8781938" cy="6271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
          <p:cNvSpPr txBox="1">
            <a:spLocks noGrp="1"/>
          </p:cNvSpPr>
          <p:nvPr>
            <p:ph type="dt" idx="10"/>
          </p:nvPr>
        </p:nvSpPr>
        <p:spPr>
          <a:xfrm>
            <a:off x="1372180" y="47621957"/>
            <a:ext cx="6312017" cy="627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
          <p:cNvSpPr txBox="1">
            <a:spLocks noGrp="1"/>
          </p:cNvSpPr>
          <p:nvPr>
            <p:ph type="sldNum" idx="12"/>
          </p:nvPr>
        </p:nvSpPr>
        <p:spPr>
          <a:xfrm>
            <a:off x="19759363" y="47621957"/>
            <a:ext cx="6312017" cy="62718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93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
        <p:cNvGrpSpPr/>
        <p:nvPr/>
      </p:nvGrpSpPr>
      <p:grpSpPr>
        <a:xfrm>
          <a:off x="0" y="0"/>
          <a:ext cx="0" cy="0"/>
          <a:chOff x="0" y="0"/>
          <a:chExt cx="0" cy="0"/>
        </a:xfrm>
      </p:grpSpPr>
      <p:sp>
        <p:nvSpPr>
          <p:cNvPr id="38" name="Google Shape;38;p4"/>
          <p:cNvSpPr txBox="1">
            <a:spLocks noGrp="1"/>
          </p:cNvSpPr>
          <p:nvPr>
            <p:ph type="ctrTitle"/>
          </p:nvPr>
        </p:nvSpPr>
        <p:spPr>
          <a:xfrm>
            <a:off x="2058269" y="15873989"/>
            <a:ext cx="23327023" cy="28725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
          <p:cNvSpPr txBox="1">
            <a:spLocks noGrp="1"/>
          </p:cNvSpPr>
          <p:nvPr>
            <p:ph type="subTitle" idx="1"/>
          </p:nvPr>
        </p:nvSpPr>
        <p:spPr>
          <a:xfrm>
            <a:off x="4116536" y="28675589"/>
            <a:ext cx="19210489" cy="28725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9330809" y="47621957"/>
            <a:ext cx="8781938" cy="6271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dt" idx="10"/>
          </p:nvPr>
        </p:nvSpPr>
        <p:spPr>
          <a:xfrm>
            <a:off x="1372180" y="47621957"/>
            <a:ext cx="6312017" cy="627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
          <p:cNvSpPr txBox="1">
            <a:spLocks noGrp="1"/>
          </p:cNvSpPr>
          <p:nvPr>
            <p:ph type="sldNum" idx="12"/>
          </p:nvPr>
        </p:nvSpPr>
        <p:spPr>
          <a:xfrm>
            <a:off x="19759363" y="47621957"/>
            <a:ext cx="6312017" cy="62718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93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3"/>
        <p:cNvGrpSpPr/>
        <p:nvPr/>
      </p:nvGrpSpPr>
      <p:grpSpPr>
        <a:xfrm>
          <a:off x="0" y="0"/>
          <a:ext cx="0" cy="0"/>
          <a:chOff x="0" y="0"/>
          <a:chExt cx="0" cy="0"/>
        </a:xfrm>
      </p:grpSpPr>
      <p:sp>
        <p:nvSpPr>
          <p:cNvPr id="44" name="Google Shape;44;p5"/>
          <p:cNvSpPr txBox="1">
            <a:spLocks noGrp="1"/>
          </p:cNvSpPr>
          <p:nvPr>
            <p:ph type="title"/>
          </p:nvPr>
        </p:nvSpPr>
        <p:spPr>
          <a:xfrm>
            <a:off x="1372179" y="2048258"/>
            <a:ext cx="24699200" cy="28725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
          <p:cNvSpPr txBox="1">
            <a:spLocks noGrp="1"/>
          </p:cNvSpPr>
          <p:nvPr>
            <p:ph type="body" idx="1"/>
          </p:nvPr>
        </p:nvSpPr>
        <p:spPr>
          <a:xfrm>
            <a:off x="1372179" y="11777477"/>
            <a:ext cx="24699200" cy="28725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6" name="Google Shape;46;p5"/>
          <p:cNvSpPr txBox="1">
            <a:spLocks noGrp="1"/>
          </p:cNvSpPr>
          <p:nvPr>
            <p:ph type="ftr" idx="11"/>
          </p:nvPr>
        </p:nvSpPr>
        <p:spPr>
          <a:xfrm>
            <a:off x="9330809" y="47621957"/>
            <a:ext cx="8781938" cy="6271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
          <p:cNvSpPr txBox="1">
            <a:spLocks noGrp="1"/>
          </p:cNvSpPr>
          <p:nvPr>
            <p:ph type="dt" idx="10"/>
          </p:nvPr>
        </p:nvSpPr>
        <p:spPr>
          <a:xfrm>
            <a:off x="1372180" y="47621957"/>
            <a:ext cx="6312017" cy="627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sldNum" idx="12"/>
          </p:nvPr>
        </p:nvSpPr>
        <p:spPr>
          <a:xfrm>
            <a:off x="19759363" y="47621957"/>
            <a:ext cx="6312017" cy="62718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93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9"/>
        <p:cNvGrpSpPr/>
        <p:nvPr/>
      </p:nvGrpSpPr>
      <p:grpSpPr>
        <a:xfrm>
          <a:off x="0" y="0"/>
          <a:ext cx="0" cy="0"/>
          <a:chOff x="0" y="0"/>
          <a:chExt cx="0" cy="0"/>
        </a:xfrm>
      </p:grpSpPr>
      <p:sp>
        <p:nvSpPr>
          <p:cNvPr id="50" name="Google Shape;50;p6"/>
          <p:cNvSpPr txBox="1">
            <a:spLocks noGrp="1"/>
          </p:cNvSpPr>
          <p:nvPr>
            <p:ph type="title"/>
          </p:nvPr>
        </p:nvSpPr>
        <p:spPr>
          <a:xfrm>
            <a:off x="1372179" y="2048258"/>
            <a:ext cx="24699200" cy="28725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
          <p:cNvSpPr txBox="1">
            <a:spLocks noGrp="1"/>
          </p:cNvSpPr>
          <p:nvPr>
            <p:ph type="body" idx="1"/>
          </p:nvPr>
        </p:nvSpPr>
        <p:spPr>
          <a:xfrm>
            <a:off x="1372178" y="11777477"/>
            <a:ext cx="11937947" cy="28725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6"/>
          <p:cNvSpPr txBox="1">
            <a:spLocks noGrp="1"/>
          </p:cNvSpPr>
          <p:nvPr>
            <p:ph type="body" idx="2"/>
          </p:nvPr>
        </p:nvSpPr>
        <p:spPr>
          <a:xfrm>
            <a:off x="14133432" y="11777477"/>
            <a:ext cx="11937947" cy="28725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3" name="Google Shape;53;p6"/>
          <p:cNvSpPr txBox="1">
            <a:spLocks noGrp="1"/>
          </p:cNvSpPr>
          <p:nvPr>
            <p:ph type="ftr" idx="11"/>
          </p:nvPr>
        </p:nvSpPr>
        <p:spPr>
          <a:xfrm>
            <a:off x="9330809" y="47621957"/>
            <a:ext cx="8781938" cy="6271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
          <p:cNvSpPr txBox="1">
            <a:spLocks noGrp="1"/>
          </p:cNvSpPr>
          <p:nvPr>
            <p:ph type="dt" idx="10"/>
          </p:nvPr>
        </p:nvSpPr>
        <p:spPr>
          <a:xfrm>
            <a:off x="1372180" y="47621957"/>
            <a:ext cx="6312017" cy="627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
          <p:cNvSpPr txBox="1">
            <a:spLocks noGrp="1"/>
          </p:cNvSpPr>
          <p:nvPr>
            <p:ph type="sldNum" idx="12"/>
          </p:nvPr>
        </p:nvSpPr>
        <p:spPr>
          <a:xfrm>
            <a:off x="19759363" y="47621957"/>
            <a:ext cx="6312017" cy="62718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93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1372179" y="2048258"/>
            <a:ext cx="24699200" cy="28725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7"/>
          <p:cNvSpPr txBox="1">
            <a:spLocks noGrp="1"/>
          </p:cNvSpPr>
          <p:nvPr>
            <p:ph type="ftr" idx="11"/>
          </p:nvPr>
        </p:nvSpPr>
        <p:spPr>
          <a:xfrm>
            <a:off x="9330809" y="47621957"/>
            <a:ext cx="8781938" cy="6271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dt" idx="10"/>
          </p:nvPr>
        </p:nvSpPr>
        <p:spPr>
          <a:xfrm>
            <a:off x="1372180" y="47621957"/>
            <a:ext cx="6312017" cy="627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sldNum" idx="12"/>
          </p:nvPr>
        </p:nvSpPr>
        <p:spPr>
          <a:xfrm>
            <a:off x="19759363" y="47621957"/>
            <a:ext cx="6312017" cy="62718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93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220678" y="519508"/>
            <a:ext cx="27051835" cy="49978805"/>
          </a:xfrm>
          <a:custGeom>
            <a:avLst/>
            <a:gdLst/>
            <a:ahLst/>
            <a:cxnLst/>
            <a:rect l="l" t="t" r="r" b="b"/>
            <a:pathLst>
              <a:path w="14865985" h="19622135" extrusionOk="0">
                <a:moveTo>
                  <a:pt x="-3" y="733020"/>
                </a:moveTo>
                <a:lnTo>
                  <a:pt x="1555" y="684888"/>
                </a:lnTo>
                <a:lnTo>
                  <a:pt x="6171" y="637518"/>
                </a:lnTo>
                <a:lnTo>
                  <a:pt x="13740" y="591164"/>
                </a:lnTo>
                <a:lnTo>
                  <a:pt x="24154" y="545827"/>
                </a:lnTo>
                <a:lnTo>
                  <a:pt x="37349" y="501505"/>
                </a:lnTo>
                <a:lnTo>
                  <a:pt x="53211" y="458453"/>
                </a:lnTo>
                <a:lnTo>
                  <a:pt x="71625" y="416798"/>
                </a:lnTo>
                <a:lnTo>
                  <a:pt x="92542" y="376413"/>
                </a:lnTo>
                <a:lnTo>
                  <a:pt x="115807" y="337679"/>
                </a:lnTo>
                <a:lnTo>
                  <a:pt x="141372" y="300469"/>
                </a:lnTo>
                <a:lnTo>
                  <a:pt x="169108" y="264910"/>
                </a:lnTo>
                <a:lnTo>
                  <a:pt x="198939" y="231256"/>
                </a:lnTo>
                <a:lnTo>
                  <a:pt x="230752" y="199379"/>
                </a:lnTo>
                <a:lnTo>
                  <a:pt x="264470" y="169662"/>
                </a:lnTo>
                <a:lnTo>
                  <a:pt x="299978" y="141850"/>
                </a:lnTo>
                <a:lnTo>
                  <a:pt x="337188" y="116323"/>
                </a:lnTo>
                <a:lnTo>
                  <a:pt x="375998" y="93083"/>
                </a:lnTo>
                <a:lnTo>
                  <a:pt x="416333" y="72129"/>
                </a:lnTo>
                <a:lnTo>
                  <a:pt x="458064" y="53714"/>
                </a:lnTo>
                <a:lnTo>
                  <a:pt x="501141" y="37839"/>
                </a:lnTo>
                <a:lnTo>
                  <a:pt x="545399" y="24632"/>
                </a:lnTo>
                <a:lnTo>
                  <a:pt x="590763" y="14218"/>
                </a:lnTo>
                <a:lnTo>
                  <a:pt x="637180" y="6725"/>
                </a:lnTo>
                <a:lnTo>
                  <a:pt x="684524" y="2153"/>
                </a:lnTo>
                <a:lnTo>
                  <a:pt x="732694" y="502"/>
                </a:lnTo>
                <a:lnTo>
                  <a:pt x="14132596" y="502"/>
                </a:lnTo>
                <a:lnTo>
                  <a:pt x="14180854" y="2153"/>
                </a:lnTo>
                <a:lnTo>
                  <a:pt x="14228097" y="6725"/>
                </a:lnTo>
                <a:lnTo>
                  <a:pt x="14274578" y="14218"/>
                </a:lnTo>
                <a:lnTo>
                  <a:pt x="14320043" y="24632"/>
                </a:lnTo>
                <a:lnTo>
                  <a:pt x="14364238" y="37839"/>
                </a:lnTo>
                <a:lnTo>
                  <a:pt x="14407290" y="53714"/>
                </a:lnTo>
                <a:lnTo>
                  <a:pt x="14448945" y="72129"/>
                </a:lnTo>
                <a:lnTo>
                  <a:pt x="14489329" y="93083"/>
                </a:lnTo>
                <a:lnTo>
                  <a:pt x="14528191" y="116323"/>
                </a:lnTo>
                <a:lnTo>
                  <a:pt x="14565401" y="141850"/>
                </a:lnTo>
                <a:lnTo>
                  <a:pt x="14600833" y="169662"/>
                </a:lnTo>
                <a:lnTo>
                  <a:pt x="14634614" y="199379"/>
                </a:lnTo>
                <a:lnTo>
                  <a:pt x="14666363" y="231256"/>
                </a:lnTo>
                <a:lnTo>
                  <a:pt x="14696207" y="264910"/>
                </a:lnTo>
                <a:lnTo>
                  <a:pt x="14724020" y="300469"/>
                </a:lnTo>
                <a:lnTo>
                  <a:pt x="14749546" y="337679"/>
                </a:lnTo>
                <a:lnTo>
                  <a:pt x="14772786" y="376413"/>
                </a:lnTo>
                <a:lnTo>
                  <a:pt x="14793614" y="416798"/>
                </a:lnTo>
                <a:lnTo>
                  <a:pt x="14812155" y="458453"/>
                </a:lnTo>
                <a:lnTo>
                  <a:pt x="14828030" y="501505"/>
                </a:lnTo>
                <a:lnTo>
                  <a:pt x="14841238" y="545827"/>
                </a:lnTo>
                <a:lnTo>
                  <a:pt x="14851651" y="591164"/>
                </a:lnTo>
                <a:lnTo>
                  <a:pt x="14859144" y="637518"/>
                </a:lnTo>
                <a:lnTo>
                  <a:pt x="14863716" y="684888"/>
                </a:lnTo>
                <a:lnTo>
                  <a:pt x="14865367" y="733020"/>
                </a:lnTo>
                <a:lnTo>
                  <a:pt x="14865367" y="18889040"/>
                </a:lnTo>
                <a:lnTo>
                  <a:pt x="14863716" y="18937210"/>
                </a:lnTo>
                <a:lnTo>
                  <a:pt x="14859144" y="18984554"/>
                </a:lnTo>
                <a:lnTo>
                  <a:pt x="14851651" y="19030959"/>
                </a:lnTo>
                <a:lnTo>
                  <a:pt x="14841238" y="19076335"/>
                </a:lnTo>
                <a:lnTo>
                  <a:pt x="14828030" y="19120593"/>
                </a:lnTo>
                <a:lnTo>
                  <a:pt x="14812155" y="19163632"/>
                </a:lnTo>
                <a:lnTo>
                  <a:pt x="14793614" y="19205402"/>
                </a:lnTo>
                <a:lnTo>
                  <a:pt x="14772786" y="19245710"/>
                </a:lnTo>
                <a:lnTo>
                  <a:pt x="14749546" y="19284508"/>
                </a:lnTo>
                <a:lnTo>
                  <a:pt x="14724020" y="19321718"/>
                </a:lnTo>
                <a:lnTo>
                  <a:pt x="14696207" y="19357226"/>
                </a:lnTo>
                <a:lnTo>
                  <a:pt x="14666363" y="19390918"/>
                </a:lnTo>
                <a:lnTo>
                  <a:pt x="14634614" y="19422731"/>
                </a:lnTo>
                <a:lnTo>
                  <a:pt x="14600833" y="19452550"/>
                </a:lnTo>
                <a:lnTo>
                  <a:pt x="14565401" y="19480299"/>
                </a:lnTo>
                <a:lnTo>
                  <a:pt x="14528191" y="19505838"/>
                </a:lnTo>
                <a:lnTo>
                  <a:pt x="14489329" y="19529116"/>
                </a:lnTo>
                <a:lnTo>
                  <a:pt x="14448945" y="19550007"/>
                </a:lnTo>
                <a:lnTo>
                  <a:pt x="14407290" y="19568435"/>
                </a:lnTo>
                <a:lnTo>
                  <a:pt x="14364238" y="19584284"/>
                </a:lnTo>
                <a:lnTo>
                  <a:pt x="14320043" y="19597466"/>
                </a:lnTo>
                <a:lnTo>
                  <a:pt x="14274578" y="19607892"/>
                </a:lnTo>
                <a:lnTo>
                  <a:pt x="14228097" y="19615449"/>
                </a:lnTo>
                <a:lnTo>
                  <a:pt x="14180854" y="19620071"/>
                </a:lnTo>
                <a:lnTo>
                  <a:pt x="14132596" y="19621621"/>
                </a:lnTo>
                <a:lnTo>
                  <a:pt x="732694" y="19621634"/>
                </a:lnTo>
                <a:lnTo>
                  <a:pt x="684524" y="19620071"/>
                </a:lnTo>
                <a:lnTo>
                  <a:pt x="637180" y="19615449"/>
                </a:lnTo>
                <a:lnTo>
                  <a:pt x="590763" y="19607892"/>
                </a:lnTo>
                <a:lnTo>
                  <a:pt x="545399" y="19597466"/>
                </a:lnTo>
                <a:lnTo>
                  <a:pt x="501141" y="19584284"/>
                </a:lnTo>
                <a:lnTo>
                  <a:pt x="458064" y="19568435"/>
                </a:lnTo>
                <a:lnTo>
                  <a:pt x="416333" y="19550007"/>
                </a:lnTo>
                <a:lnTo>
                  <a:pt x="375998" y="19529116"/>
                </a:lnTo>
                <a:lnTo>
                  <a:pt x="337188" y="19505838"/>
                </a:lnTo>
                <a:lnTo>
                  <a:pt x="299978" y="19480299"/>
                </a:lnTo>
                <a:lnTo>
                  <a:pt x="264470" y="19452550"/>
                </a:lnTo>
                <a:lnTo>
                  <a:pt x="230752" y="19422731"/>
                </a:lnTo>
                <a:lnTo>
                  <a:pt x="198939" y="19390918"/>
                </a:lnTo>
                <a:lnTo>
                  <a:pt x="169108" y="19357226"/>
                </a:lnTo>
                <a:lnTo>
                  <a:pt x="141372" y="19321718"/>
                </a:lnTo>
                <a:lnTo>
                  <a:pt x="115807" y="19284508"/>
                </a:lnTo>
                <a:lnTo>
                  <a:pt x="92542" y="19245710"/>
                </a:lnTo>
                <a:lnTo>
                  <a:pt x="71625" y="19205402"/>
                </a:lnTo>
                <a:lnTo>
                  <a:pt x="53211" y="19163632"/>
                </a:lnTo>
                <a:lnTo>
                  <a:pt x="37349" y="19120593"/>
                </a:lnTo>
                <a:lnTo>
                  <a:pt x="24154" y="19076335"/>
                </a:lnTo>
                <a:lnTo>
                  <a:pt x="13740" y="19030959"/>
                </a:lnTo>
                <a:lnTo>
                  <a:pt x="6171" y="18984554"/>
                </a:lnTo>
                <a:lnTo>
                  <a:pt x="1555" y="18937210"/>
                </a:lnTo>
                <a:lnTo>
                  <a:pt x="-3" y="18889040"/>
                </a:lnTo>
                <a:lnTo>
                  <a:pt x="-3" y="73302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1" name="Google Shape;11;p2"/>
          <p:cNvSpPr/>
          <p:nvPr/>
        </p:nvSpPr>
        <p:spPr>
          <a:xfrm>
            <a:off x="28888" y="0"/>
            <a:ext cx="27415823" cy="7824907"/>
          </a:xfrm>
          <a:custGeom>
            <a:avLst/>
            <a:gdLst/>
            <a:ahLst/>
            <a:cxnLst/>
            <a:rect l="l" t="t" r="r" b="b"/>
            <a:pathLst>
              <a:path w="15066010" h="3072130" extrusionOk="0">
                <a:moveTo>
                  <a:pt x="0" y="3072179"/>
                </a:moveTo>
                <a:lnTo>
                  <a:pt x="15065247" y="3072179"/>
                </a:lnTo>
                <a:lnTo>
                  <a:pt x="15065247" y="508"/>
                </a:lnTo>
                <a:lnTo>
                  <a:pt x="0" y="508"/>
                </a:lnTo>
                <a:lnTo>
                  <a:pt x="0" y="3072179"/>
                </a:lnTo>
                <a:close/>
              </a:path>
            </a:pathLst>
          </a:custGeom>
          <a:solidFill>
            <a:srgbClr val="925F5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2" name="Google Shape;12;p2"/>
          <p:cNvSpPr/>
          <p:nvPr/>
        </p:nvSpPr>
        <p:spPr>
          <a:xfrm>
            <a:off x="1037378" y="8050371"/>
            <a:ext cx="7963831" cy="1788828"/>
          </a:xfrm>
          <a:custGeom>
            <a:avLst/>
            <a:gdLst/>
            <a:ahLst/>
            <a:cxnLst/>
            <a:rect l="l" t="t" r="r" b="b"/>
            <a:pathLst>
              <a:path w="4376420" h="702310" extrusionOk="0">
                <a:moveTo>
                  <a:pt x="4252498" y="428"/>
                </a:moveTo>
                <a:lnTo>
                  <a:pt x="-14" y="428"/>
                </a:lnTo>
                <a:lnTo>
                  <a:pt x="-14" y="702339"/>
                </a:lnTo>
                <a:lnTo>
                  <a:pt x="4376066" y="702339"/>
                </a:lnTo>
                <a:lnTo>
                  <a:pt x="4376066" y="117392"/>
                </a:lnTo>
                <a:lnTo>
                  <a:pt x="4366287" y="71927"/>
                </a:lnTo>
                <a:lnTo>
                  <a:pt x="4339872" y="34717"/>
                </a:lnTo>
                <a:lnTo>
                  <a:pt x="4300630" y="9571"/>
                </a:lnTo>
                <a:lnTo>
                  <a:pt x="4252498" y="428"/>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3" name="Google Shape;13;p2"/>
          <p:cNvSpPr/>
          <p:nvPr/>
        </p:nvSpPr>
        <p:spPr>
          <a:xfrm>
            <a:off x="1038002" y="8051341"/>
            <a:ext cx="7963831" cy="1788828"/>
          </a:xfrm>
          <a:custGeom>
            <a:avLst/>
            <a:gdLst/>
            <a:ahLst/>
            <a:cxnLst/>
            <a:rect l="l" t="t" r="r" b="b"/>
            <a:pathLst>
              <a:path w="4376420" h="702310" extrusionOk="0">
                <a:moveTo>
                  <a:pt x="-14" y="428"/>
                </a:moveTo>
                <a:lnTo>
                  <a:pt x="4252536" y="428"/>
                </a:lnTo>
                <a:lnTo>
                  <a:pt x="4300541" y="9571"/>
                </a:lnTo>
                <a:lnTo>
                  <a:pt x="4339783" y="34717"/>
                </a:lnTo>
                <a:lnTo>
                  <a:pt x="4366325" y="71800"/>
                </a:lnTo>
                <a:lnTo>
                  <a:pt x="4375977" y="117392"/>
                </a:lnTo>
                <a:lnTo>
                  <a:pt x="4375977" y="702339"/>
                </a:lnTo>
                <a:lnTo>
                  <a:pt x="-14" y="702339"/>
                </a:lnTo>
                <a:lnTo>
                  <a:pt x="-14" y="428"/>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4" name="Google Shape;14;p2"/>
          <p:cNvSpPr/>
          <p:nvPr/>
        </p:nvSpPr>
        <p:spPr>
          <a:xfrm>
            <a:off x="9571390" y="8133832"/>
            <a:ext cx="17135178" cy="1654584"/>
          </a:xfrm>
          <a:custGeom>
            <a:avLst/>
            <a:gdLst/>
            <a:ahLst/>
            <a:cxnLst/>
            <a:rect l="l" t="t" r="r" b="b"/>
            <a:pathLst>
              <a:path w="9416415" h="649604" extrusionOk="0">
                <a:moveTo>
                  <a:pt x="9307461" y="427"/>
                </a:moveTo>
                <a:lnTo>
                  <a:pt x="-132" y="427"/>
                </a:lnTo>
                <a:lnTo>
                  <a:pt x="-132" y="649888"/>
                </a:lnTo>
                <a:lnTo>
                  <a:pt x="9415663" y="649888"/>
                </a:lnTo>
                <a:lnTo>
                  <a:pt x="9415663" y="108755"/>
                </a:lnTo>
                <a:lnTo>
                  <a:pt x="9407154" y="66592"/>
                </a:lnTo>
                <a:lnTo>
                  <a:pt x="9383913" y="32176"/>
                </a:lnTo>
                <a:lnTo>
                  <a:pt x="9349497" y="8936"/>
                </a:lnTo>
                <a:lnTo>
                  <a:pt x="9307461" y="427"/>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5" name="Google Shape;15;p2"/>
          <p:cNvSpPr/>
          <p:nvPr/>
        </p:nvSpPr>
        <p:spPr>
          <a:xfrm>
            <a:off x="9572084" y="8134802"/>
            <a:ext cx="17135178" cy="1654584"/>
          </a:xfrm>
          <a:custGeom>
            <a:avLst/>
            <a:gdLst/>
            <a:ahLst/>
            <a:cxnLst/>
            <a:rect l="l" t="t" r="r" b="b"/>
            <a:pathLst>
              <a:path w="9416415" h="649604" extrusionOk="0">
                <a:moveTo>
                  <a:pt x="-132" y="427"/>
                </a:moveTo>
                <a:lnTo>
                  <a:pt x="9307334" y="427"/>
                </a:lnTo>
                <a:lnTo>
                  <a:pt x="9349497" y="8936"/>
                </a:lnTo>
                <a:lnTo>
                  <a:pt x="9383913" y="32176"/>
                </a:lnTo>
                <a:lnTo>
                  <a:pt x="9407027" y="66592"/>
                </a:lnTo>
                <a:lnTo>
                  <a:pt x="9415663" y="108755"/>
                </a:lnTo>
                <a:lnTo>
                  <a:pt x="9415663" y="649888"/>
                </a:lnTo>
                <a:lnTo>
                  <a:pt x="-132" y="649888"/>
                </a:lnTo>
                <a:lnTo>
                  <a:pt x="-132" y="427"/>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6" name="Google Shape;16;p2"/>
          <p:cNvSpPr/>
          <p:nvPr/>
        </p:nvSpPr>
        <p:spPr>
          <a:xfrm>
            <a:off x="1034839" y="19645400"/>
            <a:ext cx="7958053" cy="1853523"/>
          </a:xfrm>
          <a:custGeom>
            <a:avLst/>
            <a:gdLst/>
            <a:ahLst/>
            <a:cxnLst/>
            <a:rect l="l" t="t" r="r" b="b"/>
            <a:pathLst>
              <a:path w="4373245" h="727709" extrusionOk="0">
                <a:moveTo>
                  <a:pt x="4251228" y="313"/>
                </a:moveTo>
                <a:lnTo>
                  <a:pt x="-14" y="313"/>
                </a:lnTo>
                <a:lnTo>
                  <a:pt x="-14" y="727623"/>
                </a:lnTo>
                <a:lnTo>
                  <a:pt x="4372510" y="727623"/>
                </a:lnTo>
                <a:lnTo>
                  <a:pt x="4372510" y="121595"/>
                </a:lnTo>
                <a:lnTo>
                  <a:pt x="4362985" y="74352"/>
                </a:lnTo>
                <a:lnTo>
                  <a:pt x="4336951" y="35872"/>
                </a:lnTo>
                <a:lnTo>
                  <a:pt x="4298471" y="9837"/>
                </a:lnTo>
                <a:lnTo>
                  <a:pt x="4251228" y="313"/>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7" name="Google Shape;17;p2"/>
          <p:cNvSpPr/>
          <p:nvPr/>
        </p:nvSpPr>
        <p:spPr>
          <a:xfrm>
            <a:off x="1035459" y="19646049"/>
            <a:ext cx="7956898" cy="1853523"/>
          </a:xfrm>
          <a:custGeom>
            <a:avLst/>
            <a:gdLst/>
            <a:ahLst/>
            <a:cxnLst/>
            <a:rect l="l" t="t" r="r" b="b"/>
            <a:pathLst>
              <a:path w="4372610" h="727709" extrusionOk="0">
                <a:moveTo>
                  <a:pt x="-14" y="313"/>
                </a:moveTo>
                <a:lnTo>
                  <a:pt x="4251139" y="313"/>
                </a:lnTo>
                <a:lnTo>
                  <a:pt x="4298382" y="9964"/>
                </a:lnTo>
                <a:lnTo>
                  <a:pt x="4336989" y="35872"/>
                </a:lnTo>
                <a:lnTo>
                  <a:pt x="4362896" y="74352"/>
                </a:lnTo>
                <a:lnTo>
                  <a:pt x="4372421" y="121595"/>
                </a:lnTo>
                <a:lnTo>
                  <a:pt x="4372421" y="727750"/>
                </a:lnTo>
                <a:lnTo>
                  <a:pt x="-14" y="727750"/>
                </a:lnTo>
                <a:lnTo>
                  <a:pt x="-14" y="313"/>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8" name="Google Shape;18;p2"/>
          <p:cNvSpPr/>
          <p:nvPr/>
        </p:nvSpPr>
        <p:spPr>
          <a:xfrm>
            <a:off x="1104698" y="42193362"/>
            <a:ext cx="25578549" cy="1898810"/>
          </a:xfrm>
          <a:custGeom>
            <a:avLst/>
            <a:gdLst/>
            <a:ahLst/>
            <a:cxnLst/>
            <a:rect l="l" t="t" r="r" b="b"/>
            <a:pathLst>
              <a:path w="14056360" h="745490" extrusionOk="0">
                <a:moveTo>
                  <a:pt x="13661524" y="89"/>
                </a:moveTo>
                <a:lnTo>
                  <a:pt x="-15" y="89"/>
                </a:lnTo>
                <a:lnTo>
                  <a:pt x="-15" y="745306"/>
                </a:lnTo>
                <a:lnTo>
                  <a:pt x="14055849" y="745306"/>
                </a:lnTo>
                <a:lnTo>
                  <a:pt x="14055849" y="124292"/>
                </a:lnTo>
                <a:lnTo>
                  <a:pt x="14024735" y="75906"/>
                </a:lnTo>
                <a:lnTo>
                  <a:pt x="13940282" y="36410"/>
                </a:lnTo>
                <a:lnTo>
                  <a:pt x="13814936" y="9868"/>
                </a:lnTo>
                <a:lnTo>
                  <a:pt x="13661524" y="89"/>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19" name="Google Shape;19;p2"/>
          <p:cNvSpPr/>
          <p:nvPr/>
        </p:nvSpPr>
        <p:spPr>
          <a:xfrm>
            <a:off x="1105322" y="42194009"/>
            <a:ext cx="25578549" cy="1898810"/>
          </a:xfrm>
          <a:custGeom>
            <a:avLst/>
            <a:gdLst/>
            <a:ahLst/>
            <a:cxnLst/>
            <a:rect l="l" t="t" r="r" b="b"/>
            <a:pathLst>
              <a:path w="14056360" h="745490" extrusionOk="0">
                <a:moveTo>
                  <a:pt x="-15" y="89"/>
                </a:moveTo>
                <a:lnTo>
                  <a:pt x="13661562" y="89"/>
                </a:lnTo>
                <a:lnTo>
                  <a:pt x="13814974" y="9868"/>
                </a:lnTo>
                <a:lnTo>
                  <a:pt x="13940320" y="36537"/>
                </a:lnTo>
                <a:lnTo>
                  <a:pt x="14024773" y="76033"/>
                </a:lnTo>
                <a:lnTo>
                  <a:pt x="14055760" y="124292"/>
                </a:lnTo>
                <a:lnTo>
                  <a:pt x="14055760" y="745306"/>
                </a:lnTo>
                <a:lnTo>
                  <a:pt x="-15" y="745306"/>
                </a:lnTo>
                <a:lnTo>
                  <a:pt x="-15" y="89"/>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0" name="Google Shape;20;p2"/>
          <p:cNvSpPr/>
          <p:nvPr/>
        </p:nvSpPr>
        <p:spPr>
          <a:xfrm>
            <a:off x="1041192" y="33218820"/>
            <a:ext cx="7977697" cy="1897192"/>
          </a:xfrm>
          <a:custGeom>
            <a:avLst/>
            <a:gdLst/>
            <a:ahLst/>
            <a:cxnLst/>
            <a:rect l="l" t="t" r="r" b="b"/>
            <a:pathLst>
              <a:path w="4384040" h="744855" extrusionOk="0">
                <a:moveTo>
                  <a:pt x="4259292" y="178"/>
                </a:moveTo>
                <a:lnTo>
                  <a:pt x="-14" y="178"/>
                </a:lnTo>
                <a:lnTo>
                  <a:pt x="-14" y="744760"/>
                </a:lnTo>
                <a:lnTo>
                  <a:pt x="4383368" y="744760"/>
                </a:lnTo>
                <a:lnTo>
                  <a:pt x="4383368" y="124381"/>
                </a:lnTo>
                <a:lnTo>
                  <a:pt x="4373716" y="75995"/>
                </a:lnTo>
                <a:lnTo>
                  <a:pt x="4347047" y="36499"/>
                </a:lnTo>
                <a:lnTo>
                  <a:pt x="4307551" y="9957"/>
                </a:lnTo>
                <a:lnTo>
                  <a:pt x="4259292" y="178"/>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1" name="Google Shape;21;p2"/>
          <p:cNvSpPr/>
          <p:nvPr/>
        </p:nvSpPr>
        <p:spPr>
          <a:xfrm>
            <a:off x="1041816" y="33219791"/>
            <a:ext cx="7977697" cy="1897192"/>
          </a:xfrm>
          <a:custGeom>
            <a:avLst/>
            <a:gdLst/>
            <a:ahLst/>
            <a:cxnLst/>
            <a:rect l="l" t="t" r="r" b="b"/>
            <a:pathLst>
              <a:path w="4384040" h="744855" extrusionOk="0">
                <a:moveTo>
                  <a:pt x="-14" y="178"/>
                </a:moveTo>
                <a:lnTo>
                  <a:pt x="4259330" y="178"/>
                </a:lnTo>
                <a:lnTo>
                  <a:pt x="4307589" y="9957"/>
                </a:lnTo>
                <a:lnTo>
                  <a:pt x="4347085" y="36499"/>
                </a:lnTo>
                <a:lnTo>
                  <a:pt x="4373754" y="75995"/>
                </a:lnTo>
                <a:lnTo>
                  <a:pt x="4383406" y="124254"/>
                </a:lnTo>
                <a:lnTo>
                  <a:pt x="4383406" y="744633"/>
                </a:lnTo>
                <a:lnTo>
                  <a:pt x="-14" y="744633"/>
                </a:lnTo>
                <a:lnTo>
                  <a:pt x="-14" y="178"/>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2" name="Google Shape;22;p2"/>
          <p:cNvSpPr/>
          <p:nvPr/>
        </p:nvSpPr>
        <p:spPr>
          <a:xfrm>
            <a:off x="18180459" y="33215259"/>
            <a:ext cx="8294309" cy="1897192"/>
          </a:xfrm>
          <a:custGeom>
            <a:avLst/>
            <a:gdLst/>
            <a:ahLst/>
            <a:cxnLst/>
            <a:rect l="l" t="t" r="r" b="b"/>
            <a:pathLst>
              <a:path w="4558030" h="744855" extrusionOk="0">
                <a:moveTo>
                  <a:pt x="4429014" y="178"/>
                </a:moveTo>
                <a:lnTo>
                  <a:pt x="-252" y="178"/>
                </a:lnTo>
                <a:lnTo>
                  <a:pt x="-252" y="744760"/>
                </a:lnTo>
                <a:lnTo>
                  <a:pt x="4557408" y="744760"/>
                </a:lnTo>
                <a:lnTo>
                  <a:pt x="4557408" y="124254"/>
                </a:lnTo>
                <a:lnTo>
                  <a:pt x="4547375" y="75995"/>
                </a:lnTo>
                <a:lnTo>
                  <a:pt x="4519817" y="36499"/>
                </a:lnTo>
                <a:lnTo>
                  <a:pt x="4478924" y="9957"/>
                </a:lnTo>
                <a:lnTo>
                  <a:pt x="4429014" y="178"/>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3" name="Google Shape;23;p2"/>
          <p:cNvSpPr/>
          <p:nvPr/>
        </p:nvSpPr>
        <p:spPr>
          <a:xfrm>
            <a:off x="18180923" y="33216231"/>
            <a:ext cx="8294309" cy="1897192"/>
          </a:xfrm>
          <a:custGeom>
            <a:avLst/>
            <a:gdLst/>
            <a:ahLst/>
            <a:cxnLst/>
            <a:rect l="l" t="t" r="r" b="b"/>
            <a:pathLst>
              <a:path w="4558030" h="744855" extrusionOk="0">
                <a:moveTo>
                  <a:pt x="-252" y="178"/>
                </a:moveTo>
                <a:lnTo>
                  <a:pt x="4429141" y="178"/>
                </a:lnTo>
                <a:lnTo>
                  <a:pt x="4479051" y="9957"/>
                </a:lnTo>
                <a:lnTo>
                  <a:pt x="4519944" y="36499"/>
                </a:lnTo>
                <a:lnTo>
                  <a:pt x="4547375" y="75995"/>
                </a:lnTo>
                <a:lnTo>
                  <a:pt x="4557535" y="124254"/>
                </a:lnTo>
                <a:lnTo>
                  <a:pt x="4557535" y="744633"/>
                </a:lnTo>
                <a:lnTo>
                  <a:pt x="-252" y="744633"/>
                </a:lnTo>
                <a:lnTo>
                  <a:pt x="-252" y="178"/>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4" name="Google Shape;24;p2"/>
          <p:cNvSpPr/>
          <p:nvPr/>
        </p:nvSpPr>
        <p:spPr>
          <a:xfrm>
            <a:off x="9619688" y="33215259"/>
            <a:ext cx="8019296" cy="1897192"/>
          </a:xfrm>
          <a:custGeom>
            <a:avLst/>
            <a:gdLst/>
            <a:ahLst/>
            <a:cxnLst/>
            <a:rect l="l" t="t" r="r" b="b"/>
            <a:pathLst>
              <a:path w="4406900" h="744855" extrusionOk="0">
                <a:moveTo>
                  <a:pt x="4281944" y="178"/>
                </a:moveTo>
                <a:lnTo>
                  <a:pt x="-133" y="178"/>
                </a:lnTo>
                <a:lnTo>
                  <a:pt x="-133" y="744760"/>
                </a:lnTo>
                <a:lnTo>
                  <a:pt x="4406147" y="744760"/>
                </a:lnTo>
                <a:lnTo>
                  <a:pt x="4406147" y="124254"/>
                </a:lnTo>
                <a:lnTo>
                  <a:pt x="4396368" y="75995"/>
                </a:lnTo>
                <a:lnTo>
                  <a:pt x="4369698" y="36499"/>
                </a:lnTo>
                <a:lnTo>
                  <a:pt x="4330329" y="9957"/>
                </a:lnTo>
                <a:lnTo>
                  <a:pt x="4281944" y="178"/>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5" name="Google Shape;25;p2"/>
          <p:cNvSpPr/>
          <p:nvPr/>
        </p:nvSpPr>
        <p:spPr>
          <a:xfrm>
            <a:off x="9620380" y="33216231"/>
            <a:ext cx="8019296" cy="1897192"/>
          </a:xfrm>
          <a:custGeom>
            <a:avLst/>
            <a:gdLst/>
            <a:ahLst/>
            <a:cxnLst/>
            <a:rect l="l" t="t" r="r" b="b"/>
            <a:pathLst>
              <a:path w="4406900" h="744855" extrusionOk="0">
                <a:moveTo>
                  <a:pt x="-133" y="178"/>
                </a:moveTo>
                <a:lnTo>
                  <a:pt x="4281944" y="178"/>
                </a:lnTo>
                <a:lnTo>
                  <a:pt x="4330202" y="9957"/>
                </a:lnTo>
                <a:lnTo>
                  <a:pt x="4369698" y="36499"/>
                </a:lnTo>
                <a:lnTo>
                  <a:pt x="4396368" y="75995"/>
                </a:lnTo>
                <a:lnTo>
                  <a:pt x="4406147" y="124254"/>
                </a:lnTo>
                <a:lnTo>
                  <a:pt x="4406147" y="744633"/>
                </a:lnTo>
                <a:lnTo>
                  <a:pt x="-133" y="744633"/>
                </a:lnTo>
                <a:lnTo>
                  <a:pt x="-133" y="178"/>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6" name="Google Shape;26;p2"/>
          <p:cNvSpPr/>
          <p:nvPr/>
        </p:nvSpPr>
        <p:spPr>
          <a:xfrm>
            <a:off x="9556137" y="19629229"/>
            <a:ext cx="16924874" cy="1897192"/>
          </a:xfrm>
          <a:custGeom>
            <a:avLst/>
            <a:gdLst/>
            <a:ahLst/>
            <a:cxnLst/>
            <a:rect l="l" t="t" r="r" b="b"/>
            <a:pathLst>
              <a:path w="9300844" h="744854" extrusionOk="0">
                <a:moveTo>
                  <a:pt x="9038228" y="313"/>
                </a:moveTo>
                <a:lnTo>
                  <a:pt x="-132" y="313"/>
                </a:lnTo>
                <a:lnTo>
                  <a:pt x="-132" y="744895"/>
                </a:lnTo>
                <a:lnTo>
                  <a:pt x="9300350" y="744895"/>
                </a:lnTo>
                <a:lnTo>
                  <a:pt x="9300350" y="124389"/>
                </a:lnTo>
                <a:lnTo>
                  <a:pt x="9279776" y="76130"/>
                </a:lnTo>
                <a:lnTo>
                  <a:pt x="9223517" y="36634"/>
                </a:lnTo>
                <a:lnTo>
                  <a:pt x="9140207" y="10092"/>
                </a:lnTo>
                <a:lnTo>
                  <a:pt x="9038228" y="313"/>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7" name="Google Shape;27;p2"/>
          <p:cNvSpPr/>
          <p:nvPr/>
        </p:nvSpPr>
        <p:spPr>
          <a:xfrm>
            <a:off x="9556827" y="19630203"/>
            <a:ext cx="16924874" cy="1897192"/>
          </a:xfrm>
          <a:custGeom>
            <a:avLst/>
            <a:gdLst/>
            <a:ahLst/>
            <a:cxnLst/>
            <a:rect l="l" t="t" r="r" b="b"/>
            <a:pathLst>
              <a:path w="9300844" h="744854" extrusionOk="0">
                <a:moveTo>
                  <a:pt x="-132" y="313"/>
                </a:moveTo>
                <a:lnTo>
                  <a:pt x="9038228" y="313"/>
                </a:lnTo>
                <a:lnTo>
                  <a:pt x="9140207" y="10092"/>
                </a:lnTo>
                <a:lnTo>
                  <a:pt x="9223517" y="36634"/>
                </a:lnTo>
                <a:lnTo>
                  <a:pt x="9279649" y="76130"/>
                </a:lnTo>
                <a:lnTo>
                  <a:pt x="9300223" y="124389"/>
                </a:lnTo>
                <a:lnTo>
                  <a:pt x="9300223" y="744768"/>
                </a:lnTo>
                <a:lnTo>
                  <a:pt x="-132" y="744768"/>
                </a:lnTo>
                <a:lnTo>
                  <a:pt x="-132" y="313"/>
                </a:lnTo>
                <a:close/>
              </a:path>
            </a:pathLst>
          </a:custGeom>
          <a:noFill/>
          <a:ln w="15975" cap="flat" cmpd="sng">
            <a:solidFill>
              <a:srgbClr val="D2461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7593">
              <a:solidFill>
                <a:schemeClr val="dk1"/>
              </a:solidFill>
              <a:latin typeface="Calibri"/>
              <a:ea typeface="Calibri"/>
              <a:cs typeface="Calibri"/>
              <a:sym typeface="Calibri"/>
            </a:endParaRPr>
          </a:p>
        </p:txBody>
      </p:sp>
      <p:sp>
        <p:nvSpPr>
          <p:cNvPr id="28" name="Google Shape;28;p2"/>
          <p:cNvSpPr txBox="1">
            <a:spLocks noGrp="1"/>
          </p:cNvSpPr>
          <p:nvPr>
            <p:ph type="title"/>
          </p:nvPr>
        </p:nvSpPr>
        <p:spPr>
          <a:xfrm>
            <a:off x="1372179" y="2048258"/>
            <a:ext cx="24699200" cy="287258"/>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2"/>
          <p:cNvSpPr txBox="1">
            <a:spLocks noGrp="1"/>
          </p:cNvSpPr>
          <p:nvPr>
            <p:ph type="body" idx="1"/>
          </p:nvPr>
        </p:nvSpPr>
        <p:spPr>
          <a:xfrm>
            <a:off x="1372179" y="11777477"/>
            <a:ext cx="24699200" cy="287258"/>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30" name="Google Shape;30;p2"/>
          <p:cNvSpPr txBox="1">
            <a:spLocks noGrp="1"/>
          </p:cNvSpPr>
          <p:nvPr>
            <p:ph type="ftr" idx="11"/>
          </p:nvPr>
        </p:nvSpPr>
        <p:spPr>
          <a:xfrm>
            <a:off x="9330809" y="47621957"/>
            <a:ext cx="8781938" cy="62718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3930">
                <a:solidFill>
                  <a:srgbClr val="888888"/>
                </a:solidFill>
                <a:latin typeface="Calibri"/>
                <a:ea typeface="Calibri"/>
                <a:cs typeface="Calibri"/>
                <a:sym typeface="Calibri"/>
              </a:defRPr>
            </a:lvl1pPr>
            <a:lvl2pPr marR="0" lvl="1"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9pPr>
          </a:lstStyle>
          <a:p>
            <a:endParaRPr/>
          </a:p>
        </p:txBody>
      </p:sp>
      <p:sp>
        <p:nvSpPr>
          <p:cNvPr id="31" name="Google Shape;31;p2"/>
          <p:cNvSpPr txBox="1">
            <a:spLocks noGrp="1"/>
          </p:cNvSpPr>
          <p:nvPr>
            <p:ph type="dt" idx="10"/>
          </p:nvPr>
        </p:nvSpPr>
        <p:spPr>
          <a:xfrm>
            <a:off x="1372180" y="47621957"/>
            <a:ext cx="6312017" cy="6271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930">
                <a:solidFill>
                  <a:srgbClr val="888888"/>
                </a:solidFill>
                <a:latin typeface="Calibri"/>
                <a:ea typeface="Calibri"/>
                <a:cs typeface="Calibri"/>
                <a:sym typeface="Calibri"/>
              </a:defRPr>
            </a:lvl1pPr>
            <a:lvl2pPr marR="0" lvl="1"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930" b="0" i="0" u="none" strike="noStrike" cap="none">
                <a:solidFill>
                  <a:schemeClr val="dk1"/>
                </a:solidFill>
                <a:latin typeface="Calibri"/>
                <a:ea typeface="Calibri"/>
                <a:cs typeface="Calibri"/>
                <a:sym typeface="Calibri"/>
              </a:defRPr>
            </a:lvl9pPr>
          </a:lstStyle>
          <a:p>
            <a:endParaRPr/>
          </a:p>
        </p:txBody>
      </p:sp>
      <p:sp>
        <p:nvSpPr>
          <p:cNvPr id="32" name="Google Shape;32;p2"/>
          <p:cNvSpPr txBox="1">
            <a:spLocks noGrp="1"/>
          </p:cNvSpPr>
          <p:nvPr>
            <p:ph type="sldNum" idx="12"/>
          </p:nvPr>
        </p:nvSpPr>
        <p:spPr>
          <a:xfrm>
            <a:off x="19759363" y="47621957"/>
            <a:ext cx="6312017" cy="62718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3930">
                <a:solidFill>
                  <a:srgbClr val="888888"/>
                </a:solidFill>
                <a:latin typeface="Calibri"/>
                <a:ea typeface="Calibri"/>
                <a:cs typeface="Calibri"/>
                <a:sym typeface="Calibri"/>
              </a:defRPr>
            </a:lvl1pPr>
            <a:lvl2pPr marL="0" marR="0" lvl="1" indent="0" algn="r" rtl="0">
              <a:spcBef>
                <a:spcPts val="0"/>
              </a:spcBef>
              <a:buNone/>
              <a:defRPr sz="3930">
                <a:solidFill>
                  <a:srgbClr val="888888"/>
                </a:solidFill>
                <a:latin typeface="Calibri"/>
                <a:ea typeface="Calibri"/>
                <a:cs typeface="Calibri"/>
                <a:sym typeface="Calibri"/>
              </a:defRPr>
            </a:lvl2pPr>
            <a:lvl3pPr marL="0" marR="0" lvl="2" indent="0" algn="r" rtl="0">
              <a:spcBef>
                <a:spcPts val="0"/>
              </a:spcBef>
              <a:buNone/>
              <a:defRPr sz="3930">
                <a:solidFill>
                  <a:srgbClr val="888888"/>
                </a:solidFill>
                <a:latin typeface="Calibri"/>
                <a:ea typeface="Calibri"/>
                <a:cs typeface="Calibri"/>
                <a:sym typeface="Calibri"/>
              </a:defRPr>
            </a:lvl3pPr>
            <a:lvl4pPr marL="0" marR="0" lvl="3" indent="0" algn="r" rtl="0">
              <a:spcBef>
                <a:spcPts val="0"/>
              </a:spcBef>
              <a:buNone/>
              <a:defRPr sz="3930">
                <a:solidFill>
                  <a:srgbClr val="888888"/>
                </a:solidFill>
                <a:latin typeface="Calibri"/>
                <a:ea typeface="Calibri"/>
                <a:cs typeface="Calibri"/>
                <a:sym typeface="Calibri"/>
              </a:defRPr>
            </a:lvl4pPr>
            <a:lvl5pPr marL="0" marR="0" lvl="4" indent="0" algn="r" rtl="0">
              <a:spcBef>
                <a:spcPts val="0"/>
              </a:spcBef>
              <a:buNone/>
              <a:defRPr sz="3930">
                <a:solidFill>
                  <a:srgbClr val="888888"/>
                </a:solidFill>
                <a:latin typeface="Calibri"/>
                <a:ea typeface="Calibri"/>
                <a:cs typeface="Calibri"/>
                <a:sym typeface="Calibri"/>
              </a:defRPr>
            </a:lvl5pPr>
            <a:lvl6pPr marL="0" marR="0" lvl="5" indent="0" algn="r" rtl="0">
              <a:spcBef>
                <a:spcPts val="0"/>
              </a:spcBef>
              <a:buNone/>
              <a:defRPr sz="3930">
                <a:solidFill>
                  <a:srgbClr val="888888"/>
                </a:solidFill>
                <a:latin typeface="Calibri"/>
                <a:ea typeface="Calibri"/>
                <a:cs typeface="Calibri"/>
                <a:sym typeface="Calibri"/>
              </a:defRPr>
            </a:lvl6pPr>
            <a:lvl7pPr marL="0" marR="0" lvl="6" indent="0" algn="r" rtl="0">
              <a:spcBef>
                <a:spcPts val="0"/>
              </a:spcBef>
              <a:buNone/>
              <a:defRPr sz="3930">
                <a:solidFill>
                  <a:srgbClr val="888888"/>
                </a:solidFill>
                <a:latin typeface="Calibri"/>
                <a:ea typeface="Calibri"/>
                <a:cs typeface="Calibri"/>
                <a:sym typeface="Calibri"/>
              </a:defRPr>
            </a:lvl7pPr>
            <a:lvl8pPr marL="0" marR="0" lvl="7" indent="0" algn="r" rtl="0">
              <a:spcBef>
                <a:spcPts val="0"/>
              </a:spcBef>
              <a:buNone/>
              <a:defRPr sz="3930">
                <a:solidFill>
                  <a:srgbClr val="888888"/>
                </a:solidFill>
                <a:latin typeface="Calibri"/>
                <a:ea typeface="Calibri"/>
                <a:cs typeface="Calibri"/>
                <a:sym typeface="Calibri"/>
              </a:defRPr>
            </a:lvl8pPr>
            <a:lvl9pPr marL="0" marR="0" lvl="8" indent="0" algn="r" rtl="0">
              <a:spcBef>
                <a:spcPts val="0"/>
              </a:spcBef>
              <a:buNone/>
              <a:defRPr sz="393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b="0" u="non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jp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doi.org/10.5590/JOSC.2019.11.1.07" TargetMode="External"/><Relationship Id="rId11" Type="http://schemas.openxmlformats.org/officeDocument/2006/relationships/image" Target="../media/image7.jpeg"/><Relationship Id="rId5" Type="http://schemas.openxmlformats.org/officeDocument/2006/relationships/hyperlink" Target="https://www.scribbr.com/citing-sources/citation-example/" TargetMode="External"/><Relationship Id="rId10" Type="http://schemas.openxmlformats.org/officeDocument/2006/relationships/image" Target="../media/image6.jpg"/><Relationship Id="rId4" Type="http://schemas.openxmlformats.org/officeDocument/2006/relationships/image" Target="../media/image2.png"/><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65"/>
        <p:cNvGrpSpPr/>
        <p:nvPr/>
      </p:nvGrpSpPr>
      <p:grpSpPr>
        <a:xfrm>
          <a:off x="0" y="0"/>
          <a:ext cx="0" cy="0"/>
          <a:chOff x="0" y="0"/>
          <a:chExt cx="0" cy="0"/>
        </a:xfrm>
      </p:grpSpPr>
      <p:grpSp>
        <p:nvGrpSpPr>
          <p:cNvPr id="66" name="Google Shape;66;p1"/>
          <p:cNvGrpSpPr/>
          <p:nvPr/>
        </p:nvGrpSpPr>
        <p:grpSpPr>
          <a:xfrm>
            <a:off x="609600" y="785736"/>
            <a:ext cx="25869845" cy="49520891"/>
            <a:chOff x="-160136" y="7087491"/>
            <a:chExt cx="27801758" cy="37217841"/>
          </a:xfrm>
        </p:grpSpPr>
        <p:sp>
          <p:nvSpPr>
            <p:cNvPr id="67" name="Google Shape;67;p1"/>
            <p:cNvSpPr/>
            <p:nvPr/>
          </p:nvSpPr>
          <p:spPr>
            <a:xfrm>
              <a:off x="-160136" y="7087491"/>
              <a:ext cx="27801758" cy="2439743"/>
            </a:xfrm>
            <a:prstGeom prst="roundRect">
              <a:avLst>
                <a:gd name="adj" fmla="val 16667"/>
              </a:avLst>
            </a:prstGeom>
            <a:solidFill>
              <a:schemeClr val="l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7416">
                <a:solidFill>
                  <a:schemeClr val="lt1"/>
                </a:solidFill>
                <a:latin typeface="Calibri"/>
                <a:ea typeface="Calibri"/>
                <a:cs typeface="Calibri"/>
                <a:sym typeface="Calibri"/>
              </a:endParaRPr>
            </a:p>
          </p:txBody>
        </p:sp>
        <p:sp>
          <p:nvSpPr>
            <p:cNvPr id="68" name="Google Shape;68;p1"/>
            <p:cNvSpPr txBox="1"/>
            <p:nvPr/>
          </p:nvSpPr>
          <p:spPr>
            <a:xfrm>
              <a:off x="3063073" y="10412989"/>
              <a:ext cx="18921300" cy="685800"/>
            </a:xfrm>
            <a:prstGeom prst="rect">
              <a:avLst/>
            </a:prstGeom>
            <a:noFill/>
            <a:ln>
              <a:noFill/>
            </a:ln>
          </p:spPr>
          <p:txBody>
            <a:bodyPr spcFirstLastPara="1" wrap="square" lIns="0" tIns="98250" rIns="0" bIns="0" anchor="t" anchorCtr="0">
              <a:spAutoFit/>
            </a:bodyPr>
            <a:lstStyle/>
            <a:p>
              <a:pPr marL="23965" marR="9586" lvl="0" indent="0" algn="ctr" rtl="0">
                <a:lnSpc>
                  <a:spcPct val="128557"/>
                </a:lnSpc>
                <a:spcBef>
                  <a:spcPts val="0"/>
                </a:spcBef>
                <a:spcAft>
                  <a:spcPts val="0"/>
                </a:spcAft>
                <a:buNone/>
              </a:pPr>
              <a:r>
                <a:rPr lang="en-US" sz="5284" b="1" u="sng">
                  <a:solidFill>
                    <a:srgbClr val="366092"/>
                  </a:solidFill>
                  <a:latin typeface="Arial"/>
                  <a:ea typeface="Arial"/>
                  <a:cs typeface="Arial"/>
                  <a:sym typeface="Arial"/>
                </a:rPr>
                <a:t> POSTER PRESENTATION 202</a:t>
              </a:r>
              <a:r>
                <a:rPr lang="en-US" sz="5284" b="1" u="sng">
                  <a:solidFill>
                    <a:srgbClr val="366092"/>
                  </a:solidFill>
                </a:rPr>
                <a:t>6</a:t>
              </a:r>
              <a:endParaRPr sz="5284" b="1" u="sng">
                <a:solidFill>
                  <a:srgbClr val="366092"/>
                </a:solidFill>
                <a:latin typeface="Arial"/>
                <a:ea typeface="Arial"/>
                <a:cs typeface="Arial"/>
                <a:sym typeface="Arial"/>
              </a:endParaRPr>
            </a:p>
          </p:txBody>
        </p:sp>
        <p:sp>
          <p:nvSpPr>
            <p:cNvPr id="69" name="Google Shape;69;p1"/>
            <p:cNvSpPr txBox="1"/>
            <p:nvPr/>
          </p:nvSpPr>
          <p:spPr>
            <a:xfrm>
              <a:off x="3195662" y="12972558"/>
              <a:ext cx="2929881" cy="664175"/>
            </a:xfrm>
            <a:prstGeom prst="rect">
              <a:avLst/>
            </a:prstGeom>
            <a:noFill/>
            <a:ln>
              <a:noFill/>
            </a:ln>
          </p:spPr>
          <p:txBody>
            <a:bodyPr spcFirstLastPara="1" wrap="square" lIns="0" tIns="25150" rIns="0" bIns="0" anchor="t" anchorCtr="0">
              <a:spAutoFit/>
            </a:bodyPr>
            <a:lstStyle/>
            <a:p>
              <a:pPr marL="23965" marR="0" lvl="0" indent="0" algn="l" rtl="0">
                <a:spcBef>
                  <a:spcPts val="0"/>
                </a:spcBef>
                <a:spcAft>
                  <a:spcPts val="0"/>
                </a:spcAft>
                <a:buNone/>
              </a:pPr>
              <a:r>
                <a:rPr lang="en-US" sz="4151" b="1">
                  <a:solidFill>
                    <a:srgbClr val="FFFFFF"/>
                  </a:solidFill>
                  <a:latin typeface="Arial"/>
                  <a:ea typeface="Arial"/>
                  <a:cs typeface="Arial"/>
                  <a:sym typeface="Arial"/>
                </a:rPr>
                <a:t>ABSTRACT</a:t>
              </a:r>
              <a:endParaRPr sz="4151">
                <a:solidFill>
                  <a:schemeClr val="dk1"/>
                </a:solidFill>
                <a:latin typeface="Arial"/>
                <a:ea typeface="Arial"/>
                <a:cs typeface="Arial"/>
                <a:sym typeface="Arial"/>
              </a:endParaRPr>
            </a:p>
          </p:txBody>
        </p:sp>
        <p:sp>
          <p:nvSpPr>
            <p:cNvPr id="70" name="Google Shape;70;p1"/>
            <p:cNvSpPr txBox="1"/>
            <p:nvPr/>
          </p:nvSpPr>
          <p:spPr>
            <a:xfrm>
              <a:off x="-23738" y="11567134"/>
              <a:ext cx="27538847" cy="713022"/>
            </a:xfrm>
            <a:prstGeom prst="rect">
              <a:avLst/>
            </a:prstGeom>
            <a:solidFill>
              <a:srgbClr val="00B050"/>
            </a:solidFill>
            <a:ln>
              <a:noFill/>
            </a:ln>
          </p:spPr>
          <p:txBody>
            <a:bodyPr spcFirstLastPara="1" wrap="square" lIns="0" tIns="25150" rIns="0" bIns="0" anchor="t" anchorCtr="0">
              <a:spAutoFit/>
            </a:bodyPr>
            <a:lstStyle/>
            <a:p>
              <a:pPr marL="0" marR="274403" lvl="0" indent="0" algn="ctr" rtl="0">
                <a:spcBef>
                  <a:spcPts val="0"/>
                </a:spcBef>
                <a:spcAft>
                  <a:spcPts val="0"/>
                </a:spcAft>
                <a:buNone/>
              </a:pPr>
              <a:r>
                <a:rPr lang="en-US" sz="6040" b="1" dirty="0">
                  <a:solidFill>
                    <a:schemeClr val="lt1"/>
                  </a:solidFill>
                  <a:latin typeface="Times New Roman" panose="02020603050405020304" pitchFamily="18" charset="0"/>
                  <a:cs typeface="Times New Roman" panose="02020603050405020304" pitchFamily="18" charset="0"/>
                </a:rPr>
                <a:t>Real </a:t>
              </a:r>
              <a:r>
                <a:rPr lang="en-US" sz="6040" b="1" dirty="0">
                  <a:solidFill>
                    <a:schemeClr val="lt1"/>
                  </a:solidFill>
                  <a:latin typeface="Times New Roman" panose="02020603050405020304" pitchFamily="18" charset="0"/>
                  <a:cs typeface="Times New Roman" panose="02020603050405020304" pitchFamily="18" charset="0"/>
                  <a:sym typeface="Arial"/>
                </a:rPr>
                <a:t>Time Temperature Monitoring and cloud storage system using IoT</a:t>
              </a:r>
              <a:endParaRPr lang="en-US" sz="6040" dirty="0">
                <a:latin typeface="Times New Roman" panose="02020603050405020304" pitchFamily="18" charset="0"/>
                <a:cs typeface="Times New Roman" panose="02020603050405020304" pitchFamily="18" charset="0"/>
              </a:endParaRPr>
            </a:p>
          </p:txBody>
        </p:sp>
        <p:sp>
          <p:nvSpPr>
            <p:cNvPr id="71" name="Google Shape;71;p1"/>
            <p:cNvSpPr txBox="1"/>
            <p:nvPr/>
          </p:nvSpPr>
          <p:spPr>
            <a:xfrm>
              <a:off x="-23738" y="20314718"/>
              <a:ext cx="14735332" cy="4944984"/>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25150" rIns="0" bIns="0" anchor="t" anchorCtr="0">
              <a:spAutoFit/>
            </a:bodyPr>
            <a:lstStyle/>
            <a:p>
              <a:pPr marL="178541" marR="333118" lvl="0" indent="0" algn="just"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E-commerce has become a part of our everyday lives because technological advancements have allowed people to sit in the comfort of their homes and shop online without having to go to a physical store. This project is divided into two major categories: administrators and customers. As administrators, store managers and employees can add, edit, update, or remove products. They can also change product names, prices, and add or remove products. The customer can search for products, add items to their cart, remove items from their cart, and pay at the store. They can also update their information such as names, addresses, and other details. Understanding the wider context of e-business is essential because it has a growing impact on our world and has revolutionized many aspects of human activity. The literature review attempts to explore this impact and come to useful conclusions about where the project should focus in order to be successful. The success and failure factors of e-business are also explored, as are some cases of companies that have successfully implemented e-business into their operations. </a:t>
              </a:r>
              <a:r>
                <a:rPr lang="en-US" sz="2265">
                  <a:solidFill>
                    <a:srgbClr val="FF0000"/>
                  </a:solidFill>
                  <a:latin typeface="Times New Roman"/>
                  <a:ea typeface="Times New Roman"/>
                  <a:cs typeface="Times New Roman"/>
                  <a:sym typeface="Times New Roman"/>
                </a:rPr>
                <a:t>(Text Font Times New Roman –Size 24, Maximum word = 180)</a:t>
              </a:r>
              <a:endParaRPr/>
            </a:p>
          </p:txBody>
        </p:sp>
        <p:sp>
          <p:nvSpPr>
            <p:cNvPr id="72" name="Google Shape;72;p1"/>
            <p:cNvSpPr txBox="1"/>
            <p:nvPr/>
          </p:nvSpPr>
          <p:spPr>
            <a:xfrm>
              <a:off x="2833301" y="31800968"/>
              <a:ext cx="3368463" cy="664175"/>
            </a:xfrm>
            <a:prstGeom prst="rect">
              <a:avLst/>
            </a:prstGeom>
            <a:noFill/>
            <a:ln>
              <a:noFill/>
            </a:ln>
          </p:spPr>
          <p:txBody>
            <a:bodyPr spcFirstLastPara="1" wrap="square" lIns="0" tIns="25150" rIns="0" bIns="0" anchor="t" anchorCtr="0">
              <a:spAutoFit/>
            </a:bodyPr>
            <a:lstStyle/>
            <a:p>
              <a:pPr marL="23965" marR="0" lvl="0" indent="0" algn="l" rtl="0">
                <a:spcBef>
                  <a:spcPts val="0"/>
                </a:spcBef>
                <a:spcAft>
                  <a:spcPts val="0"/>
                </a:spcAft>
                <a:buNone/>
              </a:pPr>
              <a:r>
                <a:rPr lang="en-US" sz="4151" b="1">
                  <a:solidFill>
                    <a:srgbClr val="FFFFFF"/>
                  </a:solidFill>
                  <a:latin typeface="Arial"/>
                  <a:ea typeface="Arial"/>
                  <a:cs typeface="Arial"/>
                  <a:sym typeface="Arial"/>
                </a:rPr>
                <a:t>OBJECTIVES</a:t>
              </a:r>
              <a:endParaRPr sz="4151">
                <a:solidFill>
                  <a:schemeClr val="dk1"/>
                </a:solidFill>
                <a:latin typeface="Arial"/>
                <a:ea typeface="Arial"/>
                <a:cs typeface="Arial"/>
                <a:sym typeface="Arial"/>
              </a:endParaRPr>
            </a:p>
          </p:txBody>
        </p:sp>
        <p:sp>
          <p:nvSpPr>
            <p:cNvPr id="73" name="Google Shape;73;p1"/>
            <p:cNvSpPr txBox="1"/>
            <p:nvPr/>
          </p:nvSpPr>
          <p:spPr>
            <a:xfrm>
              <a:off x="11923004" y="31754955"/>
              <a:ext cx="3221071" cy="664175"/>
            </a:xfrm>
            <a:prstGeom prst="rect">
              <a:avLst/>
            </a:prstGeom>
            <a:noFill/>
            <a:ln>
              <a:noFill/>
            </a:ln>
          </p:spPr>
          <p:txBody>
            <a:bodyPr spcFirstLastPara="1" wrap="square" lIns="0" tIns="25150" rIns="0" bIns="0" anchor="t" anchorCtr="0">
              <a:spAutoFit/>
            </a:bodyPr>
            <a:lstStyle/>
            <a:p>
              <a:pPr marL="23965" marR="0" lvl="0" indent="0" algn="l" rtl="0">
                <a:spcBef>
                  <a:spcPts val="0"/>
                </a:spcBef>
                <a:spcAft>
                  <a:spcPts val="0"/>
                </a:spcAft>
                <a:buNone/>
              </a:pPr>
              <a:r>
                <a:rPr lang="en-US" sz="4151" b="1">
                  <a:solidFill>
                    <a:srgbClr val="FFFFFF"/>
                  </a:solidFill>
                  <a:latin typeface="Arial"/>
                  <a:ea typeface="Arial"/>
                  <a:cs typeface="Arial"/>
                  <a:sym typeface="Arial"/>
                </a:rPr>
                <a:t>ALGORITHM</a:t>
              </a:r>
              <a:endParaRPr sz="4151">
                <a:solidFill>
                  <a:schemeClr val="dk1"/>
                </a:solidFill>
                <a:latin typeface="Arial"/>
                <a:ea typeface="Arial"/>
                <a:cs typeface="Arial"/>
                <a:sym typeface="Arial"/>
              </a:endParaRPr>
            </a:p>
          </p:txBody>
        </p:sp>
        <p:sp>
          <p:nvSpPr>
            <p:cNvPr id="74" name="Google Shape;74;p1"/>
            <p:cNvSpPr txBox="1"/>
            <p:nvPr/>
          </p:nvSpPr>
          <p:spPr>
            <a:xfrm>
              <a:off x="11715948" y="38352711"/>
              <a:ext cx="3575770" cy="664175"/>
            </a:xfrm>
            <a:prstGeom prst="rect">
              <a:avLst/>
            </a:prstGeom>
            <a:noFill/>
            <a:ln>
              <a:noFill/>
            </a:ln>
          </p:spPr>
          <p:txBody>
            <a:bodyPr spcFirstLastPara="1" wrap="square" lIns="0" tIns="25150" rIns="0" bIns="0" anchor="t" anchorCtr="0">
              <a:spAutoFit/>
            </a:bodyPr>
            <a:lstStyle/>
            <a:p>
              <a:pPr marL="23965" marR="0" lvl="0" indent="0" algn="l" rtl="0">
                <a:spcBef>
                  <a:spcPts val="0"/>
                </a:spcBef>
                <a:spcAft>
                  <a:spcPts val="0"/>
                </a:spcAft>
                <a:buNone/>
              </a:pPr>
              <a:r>
                <a:rPr lang="en-US" sz="4151" b="1">
                  <a:solidFill>
                    <a:srgbClr val="FFFFFF"/>
                  </a:solidFill>
                  <a:latin typeface="Arial"/>
                  <a:ea typeface="Arial"/>
                  <a:cs typeface="Arial"/>
                  <a:sym typeface="Arial"/>
                </a:rPr>
                <a:t>CONCLUSION</a:t>
              </a:r>
              <a:endParaRPr sz="4151">
                <a:solidFill>
                  <a:schemeClr val="dk1"/>
                </a:solidFill>
                <a:latin typeface="Arial"/>
                <a:ea typeface="Arial"/>
                <a:cs typeface="Arial"/>
                <a:sym typeface="Arial"/>
              </a:endParaRPr>
            </a:p>
          </p:txBody>
        </p:sp>
        <p:grpSp>
          <p:nvGrpSpPr>
            <p:cNvPr id="75" name="Google Shape;75;p1"/>
            <p:cNvGrpSpPr/>
            <p:nvPr/>
          </p:nvGrpSpPr>
          <p:grpSpPr>
            <a:xfrm>
              <a:off x="515700" y="7257622"/>
              <a:ext cx="26481119" cy="2264533"/>
              <a:chOff x="145998" y="120716"/>
              <a:chExt cx="13731186" cy="1200000"/>
            </a:xfrm>
          </p:grpSpPr>
          <p:pic>
            <p:nvPicPr>
              <p:cNvPr id="76" name="Google Shape;76;p1"/>
              <p:cNvPicPr preferRelativeResize="0"/>
              <p:nvPr/>
            </p:nvPicPr>
            <p:blipFill rotWithShape="1">
              <a:blip r:embed="rId3">
                <a:alphaModFix/>
              </a:blip>
              <a:srcRect/>
              <a:stretch/>
            </p:blipFill>
            <p:spPr>
              <a:xfrm>
                <a:off x="12330030" y="120716"/>
                <a:ext cx="1547154" cy="1200000"/>
              </a:xfrm>
              <a:prstGeom prst="rect">
                <a:avLst/>
              </a:prstGeom>
              <a:noFill/>
              <a:ln>
                <a:noFill/>
              </a:ln>
            </p:spPr>
          </p:pic>
          <p:pic>
            <p:nvPicPr>
              <p:cNvPr id="77" name="Google Shape;77;p1"/>
              <p:cNvPicPr preferRelativeResize="0"/>
              <p:nvPr/>
            </p:nvPicPr>
            <p:blipFill rotWithShape="1">
              <a:blip r:embed="rId4">
                <a:alphaModFix/>
              </a:blip>
              <a:srcRect/>
              <a:stretch/>
            </p:blipFill>
            <p:spPr>
              <a:xfrm>
                <a:off x="145998" y="147765"/>
                <a:ext cx="1440184" cy="1082693"/>
              </a:xfrm>
              <a:prstGeom prst="rect">
                <a:avLst/>
              </a:prstGeom>
              <a:noFill/>
              <a:ln>
                <a:noFill/>
              </a:ln>
            </p:spPr>
          </p:pic>
        </p:grpSp>
        <p:sp>
          <p:nvSpPr>
            <p:cNvPr id="78" name="Google Shape;78;p1"/>
            <p:cNvSpPr txBox="1"/>
            <p:nvPr/>
          </p:nvSpPr>
          <p:spPr>
            <a:xfrm>
              <a:off x="31776" y="13521461"/>
              <a:ext cx="11145911" cy="3813640"/>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87475" rIns="0" bIns="0" anchor="t" anchorCtr="0">
              <a:spAutoFit/>
            </a:bodyPr>
            <a:lstStyle/>
            <a:p>
              <a:pPr marR="764492" lvl="0" algn="just">
                <a:lnSpc>
                  <a:spcPct val="150000"/>
                </a:lnSpc>
              </a:pPr>
              <a:r>
                <a:rPr lang="en-US" sz="2400" dirty="0">
                  <a:latin typeface="Times New Roman" panose="02020603050405020304" pitchFamily="18" charset="0"/>
                  <a:cs typeface="Times New Roman" panose="02020603050405020304" pitchFamily="18" charset="0"/>
                </a:rPr>
                <a:t>The Internet of Things (IoT) enables real-time data acquisition and remote monitoring. This project presents a temperature and humidity monitoring system using a DHT11/DHT22 sensor and ESP8266 </a:t>
              </a:r>
              <a:r>
                <a:rPr lang="en-US" sz="2400" dirty="0" err="1">
                  <a:latin typeface="Times New Roman" panose="02020603050405020304" pitchFamily="18" charset="0"/>
                  <a:cs typeface="Times New Roman" panose="02020603050405020304" pitchFamily="18" charset="0"/>
                </a:rPr>
                <a:t>NodeMCU</a:t>
              </a:r>
              <a:r>
                <a:rPr lang="en-US" sz="2400" dirty="0">
                  <a:latin typeface="Times New Roman" panose="02020603050405020304" pitchFamily="18" charset="0"/>
                  <a:cs typeface="Times New Roman" panose="02020603050405020304" pitchFamily="18" charset="0"/>
                </a:rPr>
                <a:t>. The collected data is transmitted to cloud platforms such as Firebase or </a:t>
              </a:r>
              <a:r>
                <a:rPr lang="en-US" sz="2400" dirty="0" err="1">
                  <a:latin typeface="Times New Roman" panose="02020603050405020304" pitchFamily="18" charset="0"/>
                  <a:cs typeface="Times New Roman" panose="02020603050405020304" pitchFamily="18" charset="0"/>
                </a:rPr>
                <a:t>ThingSpeak</a:t>
              </a:r>
              <a:r>
                <a:rPr lang="en-US" sz="2400" dirty="0">
                  <a:latin typeface="Times New Roman" panose="02020603050405020304" pitchFamily="18" charset="0"/>
                  <a:cs typeface="Times New Roman" panose="02020603050405020304" pitchFamily="18" charset="0"/>
                </a:rPr>
                <a:t> via Wi-Fi for storage and analysis. Users can monitor live data through a web-based dashboard, and alerts are generated when values exceed predefined thresholds. The system is cost-effective, scalable, and suitable for applications such as smart homes, agriculture, healthcare, and industrial environments.</a:t>
              </a:r>
            </a:p>
          </p:txBody>
        </p:sp>
        <p:sp>
          <p:nvSpPr>
            <p:cNvPr id="79" name="Google Shape;79;p1"/>
            <p:cNvSpPr txBox="1"/>
            <p:nvPr/>
          </p:nvSpPr>
          <p:spPr>
            <a:xfrm>
              <a:off x="7419" y="40569035"/>
              <a:ext cx="14668226" cy="2498434"/>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345100" rIns="0" bIns="0" anchor="t" anchorCtr="0">
              <a:noAutofit/>
            </a:bodyPr>
            <a:lstStyle/>
            <a:p>
              <a:pPr marL="0" marR="227670" lvl="0" indent="0" algn="just"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Chatbots also offer the opportunity for customer behavioral prediction, which can help predict customers’ intent to either provide them with more options such as purchasing or providing information on their order, or better gather information for an agent to answer their questions.</a:t>
              </a:r>
              <a:r>
                <a:rPr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provide them with more options such as purchasing or providing information on their order, or better gather information for an agent to answer </a:t>
              </a:r>
              <a:r>
                <a:rPr lang="en-US" sz="2400">
                  <a:solidFill>
                    <a:srgbClr val="FF0000"/>
                  </a:solidFill>
                  <a:latin typeface="Times New Roman"/>
                  <a:ea typeface="Times New Roman"/>
                  <a:cs typeface="Times New Roman"/>
                  <a:sym typeface="Times New Roman"/>
                </a:rPr>
                <a:t>(Text Font Times New Roman –Size 14, Maximum word = 70)</a:t>
              </a:r>
              <a:endParaRPr sz="2400">
                <a:solidFill>
                  <a:schemeClr val="dk1"/>
                </a:solidFill>
                <a:latin typeface="Times New Roman"/>
                <a:ea typeface="Times New Roman"/>
                <a:cs typeface="Times New Roman"/>
                <a:sym typeface="Times New Roman"/>
              </a:endParaRPr>
            </a:p>
          </p:txBody>
        </p:sp>
        <p:sp>
          <p:nvSpPr>
            <p:cNvPr id="80" name="Google Shape;80;p1"/>
            <p:cNvSpPr txBox="1"/>
            <p:nvPr/>
          </p:nvSpPr>
          <p:spPr>
            <a:xfrm>
              <a:off x="7419" y="32354651"/>
              <a:ext cx="14668226" cy="3381971"/>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65900" rIns="0" bIns="0" anchor="t" anchorCtr="0">
              <a:spAutoFit/>
            </a:bodyPr>
            <a:lstStyle/>
            <a:p>
              <a:pPr marL="0" marR="245644" lvl="0" indent="0" algn="just"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dataset. The platform can be made available to word press based system because 60% ecommerce websites The reason for building such modular system is to make the system available to more platforms. This present NLU engine trains its classifier from the classified training data provided by the admins. Also, it is based on SVM. Artificial Neural Network can be used to improve the accuracy of the NLU Engine. Also, a semi supervised learning system can be implemented in order to increase the  )? Neural Network can be used to improve the accuracy of the NLU Engine. Also, a semi supervised learning system can be implemented in order to </a:t>
              </a:r>
              <a:r>
                <a:rPr lang="en-US" sz="2400">
                  <a:solidFill>
                    <a:srgbClr val="FF0000"/>
                  </a:solidFill>
                  <a:latin typeface="Times New Roman"/>
                  <a:ea typeface="Times New Roman"/>
                  <a:cs typeface="Times New Roman"/>
                  <a:sym typeface="Times New Roman"/>
                </a:rPr>
                <a:t>(Text Font Times New Roman –Size 24, Maximum word = 120)</a:t>
              </a:r>
              <a:endParaRPr/>
            </a:p>
            <a:p>
              <a:pPr marL="180938" marR="0" lvl="0" indent="0" algn="just" rtl="0">
                <a:lnSpc>
                  <a:spcPct val="195761"/>
                </a:lnSpc>
                <a:spcBef>
                  <a:spcPts val="519"/>
                </a:spcBef>
                <a:spcAft>
                  <a:spcPts val="0"/>
                </a:spcAft>
                <a:buNone/>
              </a:pPr>
              <a:endParaRPr sz="2265">
                <a:solidFill>
                  <a:schemeClr val="dk1"/>
                </a:solidFill>
                <a:latin typeface="Times New Roman"/>
                <a:ea typeface="Times New Roman"/>
                <a:cs typeface="Times New Roman"/>
                <a:sym typeface="Times New Roman"/>
              </a:endParaRPr>
            </a:p>
          </p:txBody>
        </p:sp>
        <p:sp>
          <p:nvSpPr>
            <p:cNvPr id="81" name="Google Shape;81;p1"/>
            <p:cNvSpPr txBox="1"/>
            <p:nvPr/>
          </p:nvSpPr>
          <p:spPr>
            <a:xfrm>
              <a:off x="7419" y="36819434"/>
              <a:ext cx="14668226" cy="2515589"/>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88675" rIns="0" bIns="0" anchor="t" anchorCtr="0">
              <a:spAutoFit/>
            </a:bodyPr>
            <a:lstStyle/>
            <a:p>
              <a:pPr marL="0" marR="0" lvl="0" indent="0" algn="just"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Chatbots are one of the most widely-used and accessible innovations in e-commerce. Although the changes they promote in modernizing customer interactions may seem incremental, the impact of the technology is huge, in the long run.It is clear that chatbots will not be optional in a few years since customers will come companies they are interacting with. promote in modernizing customer interactions may seem incremental, the impact of the technology is huge, in the long run.It is clear that chatbots will not </a:t>
              </a:r>
              <a:r>
                <a:rPr lang="en-US" sz="2400">
                  <a:solidFill>
                    <a:srgbClr val="FF0000"/>
                  </a:solidFill>
                  <a:latin typeface="Times New Roman"/>
                  <a:ea typeface="Times New Roman"/>
                  <a:cs typeface="Times New Roman"/>
                  <a:sym typeface="Times New Roman"/>
                </a:rPr>
                <a:t>(Text Font Times New Roman –Size 24, Maximum word = 100)</a:t>
              </a:r>
              <a:endParaRPr sz="2265">
                <a:solidFill>
                  <a:schemeClr val="dk1"/>
                </a:solidFill>
                <a:latin typeface="Times New Roman"/>
                <a:ea typeface="Times New Roman"/>
                <a:cs typeface="Times New Roman"/>
                <a:sym typeface="Times New Roman"/>
              </a:endParaRPr>
            </a:p>
          </p:txBody>
        </p:sp>
        <p:sp>
          <p:nvSpPr>
            <p:cNvPr id="82" name="Google Shape;82;p1"/>
            <p:cNvSpPr txBox="1"/>
            <p:nvPr/>
          </p:nvSpPr>
          <p:spPr>
            <a:xfrm>
              <a:off x="14882956" y="14490392"/>
              <a:ext cx="12717779" cy="2930130"/>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86275" rIns="0" bIns="0" anchor="t" anchorCtr="0">
              <a:spAutoFit/>
            </a:bodyPr>
            <a:lstStyle/>
            <a:p>
              <a:pPr marL="180938" marR="249239" lvl="0" indent="0" algn="just"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we construct a Chabot based on a neural network to aid in the resolution of the user's query. The proposed system aims to create an appropriate neural network algorithm that can be used to forecast demand for outgoing distributed products, and then to evaluate the performance of the chosen algorithms by conducting an experiment to investigate the possibility of using long-term proposed system.</a:t>
              </a:r>
              <a:r>
                <a:rPr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using long-term we construct a Chabot based on a neural network to aid in the resolution of the user's query. ng long-term proposed system.</a:t>
              </a:r>
              <a:r>
                <a:rPr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using long-term </a:t>
              </a:r>
              <a:r>
                <a:rPr lang="en-US" sz="2400">
                  <a:solidFill>
                    <a:srgbClr val="FF0000"/>
                  </a:solidFill>
                  <a:latin typeface="Times New Roman"/>
                  <a:ea typeface="Times New Roman"/>
                  <a:cs typeface="Times New Roman"/>
                  <a:sym typeface="Times New Roman"/>
                </a:rPr>
                <a:t>(Text Font = Times New Roman – Size 24, Maximum word = 90)</a:t>
              </a:r>
              <a:endParaRPr sz="2265">
                <a:solidFill>
                  <a:schemeClr val="dk1"/>
                </a:solidFill>
                <a:latin typeface="Times New Roman"/>
                <a:ea typeface="Times New Roman"/>
                <a:cs typeface="Times New Roman"/>
                <a:sym typeface="Times New Roman"/>
              </a:endParaRPr>
            </a:p>
          </p:txBody>
        </p:sp>
        <p:sp>
          <p:nvSpPr>
            <p:cNvPr id="83" name="Google Shape;83;p1"/>
            <p:cNvSpPr txBox="1"/>
            <p:nvPr/>
          </p:nvSpPr>
          <p:spPr>
            <a:xfrm>
              <a:off x="-6261" y="9804991"/>
              <a:ext cx="27504000" cy="698400"/>
            </a:xfrm>
            <a:prstGeom prst="rect">
              <a:avLst/>
            </a:prstGeom>
            <a:solidFill>
              <a:schemeClr val="dk2"/>
            </a:solidFill>
            <a:ln>
              <a:noFill/>
            </a:ln>
          </p:spPr>
          <p:txBody>
            <a:bodyPr spcFirstLastPara="1" wrap="square" lIns="0" tIns="0" rIns="0" bIns="0" anchor="t" anchorCtr="0">
              <a:spAutoFit/>
            </a:bodyPr>
            <a:lstStyle/>
            <a:p>
              <a:pPr marL="23965" marR="0" lvl="0" indent="0" algn="ctr" rtl="0">
                <a:spcBef>
                  <a:spcPts val="0"/>
                </a:spcBef>
                <a:spcAft>
                  <a:spcPts val="0"/>
                </a:spcAft>
                <a:buNone/>
              </a:pPr>
              <a:r>
                <a:rPr lang="en-US" sz="6038" b="1" dirty="0">
                  <a:solidFill>
                    <a:schemeClr val="lt1"/>
                  </a:solidFill>
                  <a:latin typeface="Times New Roman"/>
                  <a:ea typeface="Times New Roman"/>
                  <a:cs typeface="Times New Roman"/>
                  <a:sym typeface="Times New Roman"/>
                </a:rPr>
                <a:t>SAL COLLEGE OF ENGINEERING </a:t>
              </a:r>
              <a:endParaRPr sz="6038" b="1" dirty="0">
                <a:solidFill>
                  <a:schemeClr val="lt1"/>
                </a:solidFill>
                <a:latin typeface="Times New Roman"/>
                <a:ea typeface="Times New Roman"/>
                <a:cs typeface="Times New Roman"/>
                <a:sym typeface="Times New Roman"/>
              </a:endParaRPr>
            </a:p>
          </p:txBody>
        </p:sp>
        <p:sp>
          <p:nvSpPr>
            <p:cNvPr id="84" name="Google Shape;84;p1"/>
            <p:cNvSpPr txBox="1"/>
            <p:nvPr/>
          </p:nvSpPr>
          <p:spPr>
            <a:xfrm>
              <a:off x="-43691" y="26742903"/>
              <a:ext cx="14677813" cy="4216860"/>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85075" rIns="0" bIns="0" anchor="t" anchorCtr="0">
              <a:spAutoFit/>
            </a:bodyPr>
            <a:lstStyle/>
            <a:p>
              <a:pPr marL="271732" marR="245644" lvl="0" indent="0" algn="just" rtl="0">
                <a:lnSpc>
                  <a:spcPct val="150000"/>
                </a:lnSpc>
                <a:spcBef>
                  <a:spcPts val="0"/>
                </a:spcBef>
                <a:spcAft>
                  <a:spcPts val="0"/>
                </a:spcAft>
                <a:buNone/>
              </a:pPr>
              <a:r>
                <a:rPr lang="en-US" sz="2400" b="1">
                  <a:solidFill>
                    <a:schemeClr val="dk1"/>
                  </a:solidFill>
                  <a:latin typeface="Times New Roman"/>
                  <a:ea typeface="Times New Roman"/>
                  <a:cs typeface="Times New Roman"/>
                  <a:sym typeface="Times New Roman"/>
                </a:rPr>
                <a:t>Algorithm </a:t>
              </a:r>
              <a:r>
                <a:rPr lang="en-US" sz="2400">
                  <a:solidFill>
                    <a:schemeClr val="dk1"/>
                  </a:solidFill>
                  <a:latin typeface="Times New Roman"/>
                  <a:ea typeface="Times New Roman"/>
                  <a:cs typeface="Times New Roman"/>
                  <a:sym typeface="Times New Roman"/>
                </a:rPr>
                <a:t>: LSTM – Deep Algorithm, NLP</a:t>
              </a:r>
              <a:endParaRPr/>
            </a:p>
            <a:p>
              <a:pPr marL="271732" marR="245644" lvl="0" indent="0" algn="just" rtl="0">
                <a:lnSpc>
                  <a:spcPct val="150000"/>
                </a:lnSpc>
                <a:spcBef>
                  <a:spcPts val="122"/>
                </a:spcBef>
                <a:spcAft>
                  <a:spcPts val="0"/>
                </a:spcAft>
                <a:buNone/>
              </a:pPr>
              <a:r>
                <a:rPr lang="en-US" sz="2400" b="1">
                  <a:solidFill>
                    <a:schemeClr val="dk1"/>
                  </a:solidFill>
                  <a:latin typeface="Times New Roman"/>
                  <a:ea typeface="Times New Roman"/>
                  <a:cs typeface="Times New Roman"/>
                  <a:sym typeface="Times New Roman"/>
                </a:rPr>
                <a:t>Languages.</a:t>
              </a:r>
              <a:r>
                <a:rPr lang="en-US" sz="2400">
                  <a:solidFill>
                    <a:schemeClr val="dk1"/>
                  </a:solidFill>
                  <a:latin typeface="Times New Roman"/>
                  <a:ea typeface="Times New Roman"/>
                  <a:cs typeface="Times New Roman"/>
                  <a:sym typeface="Times New Roman"/>
                </a:rPr>
                <a:t> Which languages do you want your chatbot to “speak”? English, French, German, Arabian, etc? Should it speak one language or multiple?</a:t>
              </a:r>
              <a:endParaRPr/>
            </a:p>
            <a:p>
              <a:pPr marL="271732" marR="245644" lvl="0" indent="0" algn="just" rtl="0">
                <a:lnSpc>
                  <a:spcPct val="150000"/>
                </a:lnSpc>
                <a:spcBef>
                  <a:spcPts val="122"/>
                </a:spcBef>
                <a:spcAft>
                  <a:spcPts val="0"/>
                </a:spcAft>
                <a:buNone/>
              </a:pPr>
              <a:r>
                <a:rPr lang="en-US" sz="2400" b="1">
                  <a:solidFill>
                    <a:schemeClr val="dk1"/>
                  </a:solidFill>
                  <a:latin typeface="Times New Roman"/>
                  <a:ea typeface="Times New Roman"/>
                  <a:cs typeface="Times New Roman"/>
                  <a:sym typeface="Times New Roman"/>
                </a:rPr>
                <a:t>Integrations.</a:t>
              </a:r>
              <a:r>
                <a:rPr lang="en-US" sz="2400">
                  <a:solidFill>
                    <a:schemeClr val="dk1"/>
                  </a:solidFill>
                  <a:latin typeface="Times New Roman"/>
                  <a:ea typeface="Times New Roman"/>
                  <a:cs typeface="Times New Roman"/>
                  <a:sym typeface="Times New Roman"/>
                </a:rPr>
                <a:t> Which tools do you need the chatbot to be integrated with? CRM, payment system, calendars, maps, custom internal tool, etc.KPIs and metrics. Be sure to specify if you have that you want the chatbot to meet.</a:t>
              </a:r>
              <a:endParaRPr/>
            </a:p>
            <a:p>
              <a:pPr marL="271732" marR="245644" lvl="0" indent="0" algn="just" rtl="0">
                <a:lnSpc>
                  <a:spcPct val="150000"/>
                </a:lnSpc>
                <a:spcBef>
                  <a:spcPts val="122"/>
                </a:spcBef>
                <a:spcAft>
                  <a:spcPts val="0"/>
                </a:spcAft>
                <a:buNone/>
              </a:pPr>
              <a:r>
                <a:rPr lang="en-US" sz="2400" b="1">
                  <a:solidFill>
                    <a:schemeClr val="dk1"/>
                  </a:solidFill>
                  <a:latin typeface="Times New Roman"/>
                  <a:ea typeface="Times New Roman"/>
                  <a:cs typeface="Times New Roman"/>
                  <a:sym typeface="Times New Roman"/>
                </a:rPr>
                <a:t>Technologies.</a:t>
              </a:r>
              <a:r>
                <a:rPr lang="en-US" sz="2400">
                  <a:solidFill>
                    <a:schemeClr val="dk1"/>
                  </a:solidFill>
                  <a:latin typeface="Times New Roman"/>
                  <a:ea typeface="Times New Roman"/>
                  <a:cs typeface="Times New Roman"/>
                  <a:sym typeface="Times New Roman"/>
                </a:rPr>
                <a:t> Do you have any specific technologies you want the chatbot to be built with?</a:t>
              </a:r>
              <a:endParaRPr/>
            </a:p>
            <a:p>
              <a:pPr marL="271732" marR="245644" lvl="0" indent="0" algn="just" rtl="0">
                <a:lnSpc>
                  <a:spcPct val="150000"/>
                </a:lnSpc>
                <a:spcBef>
                  <a:spcPts val="122"/>
                </a:spcBef>
                <a:spcAft>
                  <a:spcPts val="0"/>
                </a:spcAft>
                <a:buNone/>
              </a:pPr>
              <a:r>
                <a:rPr lang="en-US" sz="2400" b="1">
                  <a:solidFill>
                    <a:schemeClr val="dk1"/>
                  </a:solidFill>
                  <a:latin typeface="Times New Roman"/>
                  <a:ea typeface="Times New Roman"/>
                  <a:cs typeface="Times New Roman"/>
                  <a:sym typeface="Times New Roman"/>
                </a:rPr>
                <a:t>NLP and AI</a:t>
              </a:r>
              <a:r>
                <a:rPr lang="en-US" sz="2400">
                  <a:solidFill>
                    <a:schemeClr val="dk1"/>
                  </a:solidFill>
                  <a:latin typeface="Times New Roman"/>
                  <a:ea typeface="Times New Roman"/>
                  <a:cs typeface="Times New Roman"/>
                  <a:sym typeface="Times New Roman"/>
                </a:rPr>
                <a:t>. Do you want the chatbot to have decision tree logic, Machine Learning (ML), Natural Language Processing (NLP), or Artificial intelligence (AI)? </a:t>
              </a:r>
              <a:r>
                <a:rPr lang="en-US" sz="2400">
                  <a:solidFill>
                    <a:srgbClr val="FF0000"/>
                  </a:solidFill>
                  <a:latin typeface="Times New Roman"/>
                  <a:ea typeface="Times New Roman"/>
                  <a:cs typeface="Times New Roman"/>
                  <a:sym typeface="Times New Roman"/>
                </a:rPr>
                <a:t>(Text Font Times New Roman –Size 24, Maximum word = 100)</a:t>
              </a:r>
              <a:endParaRPr sz="2400">
                <a:solidFill>
                  <a:schemeClr val="dk1"/>
                </a:solidFill>
                <a:latin typeface="Times New Roman"/>
                <a:ea typeface="Times New Roman"/>
                <a:cs typeface="Times New Roman"/>
                <a:sym typeface="Times New Roman"/>
              </a:endParaRPr>
            </a:p>
          </p:txBody>
        </p:sp>
        <p:sp>
          <p:nvSpPr>
            <p:cNvPr id="85" name="Google Shape;85;p1"/>
            <p:cNvSpPr txBox="1"/>
            <p:nvPr/>
          </p:nvSpPr>
          <p:spPr>
            <a:xfrm>
              <a:off x="15105945" y="40257307"/>
              <a:ext cx="12494790" cy="2828556"/>
            </a:xfrm>
            <a:prstGeom prst="rect">
              <a:avLst/>
            </a:prstGeom>
            <a:solidFill>
              <a:srgbClr val="C5D8F1"/>
            </a:solidFill>
            <a:ln w="9525" cap="flat" cmpd="sng">
              <a:solidFill>
                <a:srgbClr val="548ED4"/>
              </a:solidFill>
              <a:prstDash val="dashDot"/>
              <a:round/>
              <a:headEnd type="none" w="sm" len="sm"/>
              <a:tailEnd type="none" w="sm" len="sm"/>
            </a:ln>
          </p:spPr>
          <p:txBody>
            <a:bodyPr spcFirstLastPara="1" wrap="square" lIns="0" tIns="65900" rIns="0" bIns="0" anchor="t" anchorCtr="0">
              <a:spAutoFit/>
            </a:bodyPr>
            <a:lstStyle/>
            <a:p>
              <a:pPr marL="0" marR="0" lvl="0" indent="0" algn="just" rtl="0">
                <a:lnSpc>
                  <a:spcPct val="150000"/>
                </a:lnSpc>
                <a:spcBef>
                  <a:spcPts val="0"/>
                </a:spcBef>
                <a:spcAft>
                  <a:spcPts val="0"/>
                </a:spcAft>
                <a:buClr>
                  <a:schemeClr val="dk1"/>
                </a:buClr>
                <a:buSzPts val="2265"/>
                <a:buFont typeface="Times New Roman"/>
                <a:buNone/>
              </a:pPr>
              <a:r>
                <a:rPr lang="en-US" sz="2265" b="0" i="0" u="sng">
                  <a:solidFill>
                    <a:schemeClr val="dk1"/>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1</a:t>
              </a:r>
              <a:r>
                <a:rPr lang="en-US" sz="2400" b="0" i="0" u="sng">
                  <a:solidFill>
                    <a:schemeClr val="dk1"/>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.https://www.scribbr.com/citing-sources/citation-example/</a:t>
              </a:r>
              <a:endParaRPr sz="2400" b="0" i="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chemeClr val="dk1"/>
                </a:buClr>
                <a:buSzPts val="2400"/>
                <a:buFont typeface="Times New Roman"/>
                <a:buNone/>
              </a:pPr>
              <a:r>
                <a:rPr lang="en-US" sz="2400" b="0" i="0" u="sng">
                  <a:solidFill>
                    <a:schemeClr val="dk1"/>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2. https://doi.org/10.5590/JOSC.2019.11.1.07</a:t>
              </a:r>
              <a:endParaRPr sz="2400" b="0" i="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chemeClr val="dk1"/>
                </a:buClr>
                <a:buSzPts val="2400"/>
                <a:buFont typeface="Times New Roman"/>
                <a:buNone/>
              </a:pPr>
              <a:r>
                <a:rPr lang="en-US" sz="2400" b="0" i="0">
                  <a:solidFill>
                    <a:schemeClr val="dk1"/>
                  </a:solidFill>
                  <a:latin typeface="Times New Roman"/>
                  <a:ea typeface="Times New Roman"/>
                  <a:cs typeface="Times New Roman"/>
                  <a:sym typeface="Times New Roman"/>
                </a:rPr>
                <a:t>3. https://doi.org/10.5590/JOSC.2019.11.1.076</a:t>
              </a:r>
              <a:endParaRPr/>
            </a:p>
            <a:p>
              <a:pPr marL="0" marR="0" lvl="0" indent="0" algn="just" rtl="0">
                <a:lnSpc>
                  <a:spcPct val="150000"/>
                </a:lnSpc>
                <a:spcBef>
                  <a:spcPts val="0"/>
                </a:spcBef>
                <a:spcAft>
                  <a:spcPts val="0"/>
                </a:spcAft>
                <a:buClr>
                  <a:schemeClr val="dk1"/>
                </a:buClr>
                <a:buSzPts val="2400"/>
                <a:buFont typeface="Times New Roman"/>
                <a:buNone/>
              </a:pPr>
              <a:r>
                <a:rPr lang="en-US" sz="2400" b="0" i="0">
                  <a:solidFill>
                    <a:schemeClr val="dk1"/>
                  </a:solidFill>
                  <a:latin typeface="Times New Roman"/>
                  <a:ea typeface="Times New Roman"/>
                  <a:cs typeface="Times New Roman"/>
                  <a:sym typeface="Times New Roman"/>
                </a:rPr>
                <a:t>4. https://doi.org/10.5590/JOSC.2019.11.1.078</a:t>
              </a:r>
              <a:endParaRPr/>
            </a:p>
            <a:p>
              <a:pPr marL="0" marR="0" lvl="0" indent="0" algn="just" rtl="0">
                <a:lnSpc>
                  <a:spcPct val="150000"/>
                </a:lnSpc>
                <a:spcBef>
                  <a:spcPts val="0"/>
                </a:spcBef>
                <a:spcAft>
                  <a:spcPts val="0"/>
                </a:spcAft>
                <a:buClr>
                  <a:schemeClr val="dk1"/>
                </a:buClr>
                <a:buSzPts val="2400"/>
                <a:buFont typeface="Times New Roman"/>
                <a:buNone/>
              </a:pPr>
              <a:r>
                <a:rPr lang="en-US" sz="2400" b="0" i="0">
                  <a:solidFill>
                    <a:schemeClr val="dk1"/>
                  </a:solidFill>
                  <a:latin typeface="Times New Roman"/>
                  <a:ea typeface="Times New Roman"/>
                  <a:cs typeface="Times New Roman"/>
                  <a:sym typeface="Times New Roman"/>
                </a:rPr>
                <a:t>5. https://www.scribbr.com/apa-style/format/</a:t>
              </a:r>
              <a:endParaRPr sz="2400" b="0" i="0">
                <a:solidFill>
                  <a:schemeClr val="dk1"/>
                </a:solidFill>
                <a:latin typeface="Times New Roman"/>
                <a:ea typeface="Times New Roman"/>
                <a:cs typeface="Times New Roman"/>
                <a:sym typeface="Times New Roman"/>
              </a:endParaRPr>
            </a:p>
            <a:p>
              <a:pPr marL="179739" marR="0" lvl="0" indent="0" algn="l" rtl="0">
                <a:lnSpc>
                  <a:spcPct val="97500"/>
                </a:lnSpc>
                <a:spcBef>
                  <a:spcPts val="0"/>
                </a:spcBef>
                <a:spcAft>
                  <a:spcPts val="0"/>
                </a:spcAft>
                <a:buClr>
                  <a:srgbClr val="000000"/>
                </a:buClr>
                <a:buSzPts val="2400"/>
                <a:buFont typeface="Times New Roman"/>
                <a:buNone/>
              </a:pPr>
              <a:r>
                <a:rPr lang="en-US" sz="2400" b="0" i="0">
                  <a:solidFill>
                    <a:srgbClr val="000000"/>
                  </a:solidFill>
                  <a:latin typeface="Times New Roman"/>
                  <a:ea typeface="Times New Roman"/>
                  <a:cs typeface="Times New Roman"/>
                  <a:sym typeface="Times New Roman"/>
                </a:rPr>
                <a:t> </a:t>
              </a:r>
              <a:r>
                <a:rPr lang="en-US" sz="2400" b="0" i="0">
                  <a:solidFill>
                    <a:srgbClr val="FF0000"/>
                  </a:solidFill>
                  <a:latin typeface="Times New Roman"/>
                  <a:ea typeface="Times New Roman"/>
                  <a:cs typeface="Times New Roman"/>
                  <a:sym typeface="Times New Roman"/>
                </a:rPr>
                <a:t>(Text Font Times New Roman –Size 24,)</a:t>
              </a:r>
              <a:endParaRPr sz="2400" b="0" i="0">
                <a:solidFill>
                  <a:srgbClr val="202F66"/>
                </a:solidFill>
                <a:latin typeface="Times New Roman"/>
                <a:ea typeface="Times New Roman"/>
                <a:cs typeface="Times New Roman"/>
                <a:sym typeface="Times New Roman"/>
              </a:endParaRPr>
            </a:p>
            <a:p>
              <a:pPr marL="552450" marR="0" lvl="0" indent="-217550" algn="l" rtl="0">
                <a:lnSpc>
                  <a:spcPct val="62003"/>
                </a:lnSpc>
                <a:spcBef>
                  <a:spcPts val="0"/>
                </a:spcBef>
                <a:spcAft>
                  <a:spcPts val="0"/>
                </a:spcAft>
                <a:buClr>
                  <a:srgbClr val="202F66"/>
                </a:buClr>
                <a:buSzPts val="3774"/>
                <a:buFont typeface="Inter"/>
                <a:buNone/>
              </a:pPr>
              <a:endParaRPr sz="3774" b="0" i="0">
                <a:solidFill>
                  <a:srgbClr val="202F66"/>
                </a:solidFill>
                <a:latin typeface="Inter"/>
                <a:ea typeface="Inter"/>
                <a:cs typeface="Inter"/>
                <a:sym typeface="Inter"/>
              </a:endParaRPr>
            </a:p>
            <a:p>
              <a:pPr marL="179739" marR="0" lvl="0" indent="0" algn="l" rtl="0">
                <a:lnSpc>
                  <a:spcPct val="62003"/>
                </a:lnSpc>
                <a:spcBef>
                  <a:spcPts val="0"/>
                </a:spcBef>
                <a:spcAft>
                  <a:spcPts val="0"/>
                </a:spcAft>
                <a:buClr>
                  <a:srgbClr val="202F66"/>
                </a:buClr>
                <a:buSzPts val="3774"/>
                <a:buFont typeface="Inter"/>
                <a:buNone/>
              </a:pPr>
              <a:endParaRPr sz="3774" b="0" i="0">
                <a:solidFill>
                  <a:srgbClr val="202F66"/>
                </a:solidFill>
                <a:latin typeface="Inter"/>
                <a:ea typeface="Inter"/>
                <a:cs typeface="Inter"/>
                <a:sym typeface="Inter"/>
              </a:endParaRPr>
            </a:p>
          </p:txBody>
        </p:sp>
        <p:pic>
          <p:nvPicPr>
            <p:cNvPr id="86" name="Google Shape;86;p1" descr="Healthcare | Free Full-Text | AI Chatbot Design during an Epidemic like the  Novel Coronavirus"/>
            <p:cNvPicPr preferRelativeResize="0"/>
            <p:nvPr/>
          </p:nvPicPr>
          <p:blipFill rotWithShape="1">
            <a:blip r:embed="rId7">
              <a:alphaModFix/>
            </a:blip>
            <a:srcRect/>
            <a:stretch/>
          </p:blipFill>
          <p:spPr>
            <a:xfrm flipH="1">
              <a:off x="14923843" y="18657730"/>
              <a:ext cx="12717779" cy="7470929"/>
            </a:xfrm>
            <a:prstGeom prst="rect">
              <a:avLst/>
            </a:prstGeom>
            <a:noFill/>
            <a:ln>
              <a:noFill/>
            </a:ln>
          </p:spPr>
        </p:pic>
        <p:sp>
          <p:nvSpPr>
            <p:cNvPr id="87" name="Google Shape;87;p1"/>
            <p:cNvSpPr txBox="1"/>
            <p:nvPr/>
          </p:nvSpPr>
          <p:spPr>
            <a:xfrm>
              <a:off x="61889" y="12756751"/>
              <a:ext cx="7536538" cy="753113"/>
            </a:xfrm>
            <a:prstGeom prst="rect">
              <a:avLst/>
            </a:prstGeom>
            <a:solidFill>
              <a:srgbClr val="002060"/>
            </a:solidFill>
            <a:ln>
              <a:noFill/>
            </a:ln>
          </p:spPr>
          <p:txBody>
            <a:bodyPr spcFirstLastPara="1" wrap="square" lIns="91425" tIns="45700" rIns="91425" bIns="45700" anchor="ctr" anchorCtr="0">
              <a:noAutofit/>
            </a:bodyPr>
            <a:lstStyle/>
            <a:p>
              <a:pPr marL="0" marR="249239" lvl="0" indent="0" algn="ctr" rtl="0">
                <a:spcBef>
                  <a:spcPts val="0"/>
                </a:spcBef>
                <a:spcAft>
                  <a:spcPts val="0"/>
                </a:spcAft>
                <a:buNone/>
              </a:pPr>
              <a:r>
                <a:rPr lang="en-US" sz="4529" dirty="0">
                  <a:solidFill>
                    <a:srgbClr val="F2F2F2"/>
                  </a:solidFill>
                  <a:latin typeface="Arial Black"/>
                  <a:ea typeface="Arial Black"/>
                  <a:cs typeface="Arial Black"/>
                  <a:sym typeface="Arial Black"/>
                </a:rPr>
                <a:t>Abstract</a:t>
              </a:r>
              <a:endParaRPr dirty="0"/>
            </a:p>
          </p:txBody>
        </p:sp>
        <p:sp>
          <p:nvSpPr>
            <p:cNvPr id="88" name="Google Shape;88;p1"/>
            <p:cNvSpPr txBox="1"/>
            <p:nvPr/>
          </p:nvSpPr>
          <p:spPr>
            <a:xfrm>
              <a:off x="17406303" y="13503987"/>
              <a:ext cx="7536538" cy="752160"/>
            </a:xfrm>
            <a:prstGeom prst="rect">
              <a:avLst/>
            </a:prstGeom>
            <a:solidFill>
              <a:srgbClr val="205867"/>
            </a:solidFill>
            <a:ln>
              <a:noFill/>
            </a:ln>
          </p:spPr>
          <p:txBody>
            <a:bodyPr spcFirstLastPara="1" wrap="square" lIns="91425" tIns="45700" rIns="91425" bIns="45700" anchor="ctr" anchorCtr="0">
              <a:noAutofit/>
            </a:bodyPr>
            <a:lstStyle/>
            <a:p>
              <a:pPr marL="0" marR="249239" lvl="0" indent="0" algn="ctr" rtl="0">
                <a:spcBef>
                  <a:spcPts val="0"/>
                </a:spcBef>
                <a:spcAft>
                  <a:spcPts val="0"/>
                </a:spcAft>
                <a:buNone/>
              </a:pPr>
              <a:r>
                <a:rPr lang="en-US" sz="4529">
                  <a:solidFill>
                    <a:srgbClr val="F2F2F2"/>
                  </a:solidFill>
                  <a:latin typeface="Arial Black"/>
                  <a:ea typeface="Arial Black"/>
                  <a:cs typeface="Arial Black"/>
                  <a:sym typeface="Arial Black"/>
                </a:rPr>
                <a:t>Objectives</a:t>
              </a:r>
              <a:endParaRPr/>
            </a:p>
          </p:txBody>
        </p:sp>
        <p:sp>
          <p:nvSpPr>
            <p:cNvPr id="89" name="Google Shape;89;p1"/>
            <p:cNvSpPr txBox="1"/>
            <p:nvPr/>
          </p:nvSpPr>
          <p:spPr>
            <a:xfrm>
              <a:off x="3565681" y="19326004"/>
              <a:ext cx="7536539" cy="776231"/>
            </a:xfrm>
            <a:prstGeom prst="rect">
              <a:avLst/>
            </a:prstGeom>
            <a:solidFill>
              <a:srgbClr val="205867"/>
            </a:solidFill>
            <a:ln>
              <a:noFill/>
            </a:ln>
          </p:spPr>
          <p:txBody>
            <a:bodyPr spcFirstLastPara="1" wrap="square" lIns="91425" tIns="45700" rIns="91425" bIns="45700" anchor="ctr" anchorCtr="0">
              <a:noAutofit/>
            </a:bodyPr>
            <a:lstStyle/>
            <a:p>
              <a:pPr marL="0" marR="249239" lvl="0" indent="0" algn="ctr" rtl="0">
                <a:spcBef>
                  <a:spcPts val="0"/>
                </a:spcBef>
                <a:spcAft>
                  <a:spcPts val="0"/>
                </a:spcAft>
                <a:buNone/>
              </a:pPr>
              <a:r>
                <a:rPr lang="en-US" sz="4529">
                  <a:solidFill>
                    <a:srgbClr val="F2F2F2"/>
                  </a:solidFill>
                  <a:latin typeface="Arial Black"/>
                  <a:ea typeface="Arial Black"/>
                  <a:cs typeface="Arial Black"/>
                  <a:sym typeface="Arial Black"/>
                </a:rPr>
                <a:t>Introduction</a:t>
              </a:r>
              <a:endParaRPr/>
            </a:p>
          </p:txBody>
        </p:sp>
        <p:sp>
          <p:nvSpPr>
            <p:cNvPr id="90" name="Google Shape;90;p1"/>
            <p:cNvSpPr txBox="1"/>
            <p:nvPr/>
          </p:nvSpPr>
          <p:spPr>
            <a:xfrm>
              <a:off x="1275204" y="25681995"/>
              <a:ext cx="12813602" cy="752160"/>
            </a:xfrm>
            <a:prstGeom prst="rect">
              <a:avLst/>
            </a:prstGeom>
            <a:solidFill>
              <a:srgbClr val="205867"/>
            </a:solidFill>
            <a:ln>
              <a:noFill/>
            </a:ln>
          </p:spPr>
          <p:txBody>
            <a:bodyPr spcFirstLastPara="1" wrap="square" lIns="91425" tIns="45700" rIns="91425" bIns="45700" anchor="ctr" anchorCtr="0">
              <a:noAutofit/>
            </a:bodyPr>
            <a:lstStyle/>
            <a:p>
              <a:pPr marL="0" marR="249239" lvl="0" indent="0" algn="ctr" rtl="0">
                <a:spcBef>
                  <a:spcPts val="0"/>
                </a:spcBef>
                <a:spcAft>
                  <a:spcPts val="0"/>
                </a:spcAft>
                <a:buNone/>
              </a:pPr>
              <a:r>
                <a:rPr lang="en-US" sz="4529">
                  <a:solidFill>
                    <a:srgbClr val="F2F2F2"/>
                  </a:solidFill>
                  <a:latin typeface="Arial Black"/>
                  <a:ea typeface="Arial Black"/>
                  <a:cs typeface="Arial Black"/>
                  <a:sym typeface="Arial Black"/>
                </a:rPr>
                <a:t>Technology / Methods/ Algorithm</a:t>
              </a:r>
              <a:endParaRPr/>
            </a:p>
          </p:txBody>
        </p:sp>
        <p:sp>
          <p:nvSpPr>
            <p:cNvPr id="91" name="Google Shape;91;p1"/>
            <p:cNvSpPr txBox="1"/>
            <p:nvPr/>
          </p:nvSpPr>
          <p:spPr>
            <a:xfrm>
              <a:off x="3578055" y="31351601"/>
              <a:ext cx="7536538" cy="752160"/>
            </a:xfrm>
            <a:prstGeom prst="rect">
              <a:avLst/>
            </a:prstGeom>
            <a:solidFill>
              <a:srgbClr val="205867"/>
            </a:solidFill>
            <a:ln>
              <a:noFill/>
            </a:ln>
          </p:spPr>
          <p:txBody>
            <a:bodyPr spcFirstLastPara="1" wrap="square" lIns="91425" tIns="45700" rIns="91425" bIns="45700" anchor="t" anchorCtr="0">
              <a:spAutoFit/>
            </a:bodyPr>
            <a:lstStyle/>
            <a:p>
              <a:pPr marL="0" marR="249239" lvl="0" indent="0" algn="ctr" rtl="0">
                <a:lnSpc>
                  <a:spcPct val="95800"/>
                </a:lnSpc>
                <a:spcBef>
                  <a:spcPts val="0"/>
                </a:spcBef>
                <a:spcAft>
                  <a:spcPts val="0"/>
                </a:spcAft>
                <a:buNone/>
              </a:pPr>
              <a:r>
                <a:rPr lang="en-US" sz="4529">
                  <a:solidFill>
                    <a:srgbClr val="F2F2F2"/>
                  </a:solidFill>
                  <a:latin typeface="Arial Black"/>
                  <a:ea typeface="Arial Black"/>
                  <a:cs typeface="Arial Black"/>
                  <a:sym typeface="Arial Black"/>
                </a:rPr>
                <a:t>Results / Outcome</a:t>
              </a:r>
              <a:endParaRPr/>
            </a:p>
          </p:txBody>
        </p:sp>
        <p:sp>
          <p:nvSpPr>
            <p:cNvPr id="92" name="Google Shape;92;p1"/>
            <p:cNvSpPr txBox="1"/>
            <p:nvPr/>
          </p:nvSpPr>
          <p:spPr>
            <a:xfrm>
              <a:off x="15541124" y="17656705"/>
              <a:ext cx="11455693" cy="752160"/>
            </a:xfrm>
            <a:prstGeom prst="rect">
              <a:avLst/>
            </a:prstGeom>
            <a:solidFill>
              <a:srgbClr val="205867"/>
            </a:solidFill>
            <a:ln>
              <a:noFill/>
            </a:ln>
          </p:spPr>
          <p:txBody>
            <a:bodyPr spcFirstLastPara="1" wrap="square" lIns="91425" tIns="45700" rIns="91425" bIns="45700" anchor="ctr" anchorCtr="0">
              <a:noAutofit/>
            </a:bodyPr>
            <a:lstStyle/>
            <a:p>
              <a:pPr marL="0" marR="249239" lvl="0" indent="0" algn="ctr" rtl="0">
                <a:spcBef>
                  <a:spcPts val="0"/>
                </a:spcBef>
                <a:spcAft>
                  <a:spcPts val="0"/>
                </a:spcAft>
                <a:buNone/>
              </a:pPr>
              <a:r>
                <a:rPr lang="en-US" sz="4529">
                  <a:solidFill>
                    <a:srgbClr val="F2F2F2"/>
                  </a:solidFill>
                  <a:latin typeface="Arial Black"/>
                  <a:ea typeface="Arial Black"/>
                  <a:cs typeface="Arial Black"/>
                  <a:sym typeface="Arial Black"/>
                </a:rPr>
                <a:t>Workflow / Process / Flow Chart</a:t>
              </a:r>
              <a:endParaRPr/>
            </a:p>
          </p:txBody>
        </p:sp>
        <p:sp>
          <p:nvSpPr>
            <p:cNvPr id="93" name="Google Shape;93;p1"/>
            <p:cNvSpPr txBox="1"/>
            <p:nvPr/>
          </p:nvSpPr>
          <p:spPr>
            <a:xfrm>
              <a:off x="3578055" y="36012576"/>
              <a:ext cx="7536538" cy="572257"/>
            </a:xfrm>
            <a:prstGeom prst="rect">
              <a:avLst/>
            </a:prstGeom>
            <a:solidFill>
              <a:srgbClr val="205867"/>
            </a:solidFill>
            <a:ln>
              <a:noFill/>
            </a:ln>
          </p:spPr>
          <p:txBody>
            <a:bodyPr spcFirstLastPara="1" wrap="square" lIns="91425" tIns="45700" rIns="91425" bIns="45700" anchor="ctr" anchorCtr="0">
              <a:spAutoFit/>
            </a:bodyPr>
            <a:lstStyle/>
            <a:p>
              <a:pPr marL="0" marR="249239" lvl="0" indent="0" algn="ctr" rtl="0">
                <a:lnSpc>
                  <a:spcPct val="95800"/>
                </a:lnSpc>
                <a:spcBef>
                  <a:spcPts val="0"/>
                </a:spcBef>
                <a:spcAft>
                  <a:spcPts val="0"/>
                </a:spcAft>
                <a:buNone/>
              </a:pPr>
              <a:r>
                <a:rPr lang="en-US" sz="4529">
                  <a:solidFill>
                    <a:srgbClr val="F2F2F2"/>
                  </a:solidFill>
                  <a:latin typeface="Arial Black"/>
                  <a:ea typeface="Arial Black"/>
                  <a:cs typeface="Arial Black"/>
                  <a:sym typeface="Arial Black"/>
                </a:rPr>
                <a:t>Conclusion</a:t>
              </a:r>
              <a:endParaRPr/>
            </a:p>
          </p:txBody>
        </p:sp>
        <p:sp>
          <p:nvSpPr>
            <p:cNvPr id="94" name="Google Shape;94;p1"/>
            <p:cNvSpPr txBox="1"/>
            <p:nvPr/>
          </p:nvSpPr>
          <p:spPr>
            <a:xfrm>
              <a:off x="3883725" y="39646752"/>
              <a:ext cx="7536538" cy="752160"/>
            </a:xfrm>
            <a:prstGeom prst="rect">
              <a:avLst/>
            </a:prstGeom>
            <a:solidFill>
              <a:srgbClr val="205867"/>
            </a:solidFill>
            <a:ln>
              <a:noFill/>
            </a:ln>
          </p:spPr>
          <p:txBody>
            <a:bodyPr spcFirstLastPara="1" wrap="square" lIns="91425" tIns="45700" rIns="91425" bIns="45700" anchor="ctr" anchorCtr="0">
              <a:spAutoFit/>
            </a:bodyPr>
            <a:lstStyle/>
            <a:p>
              <a:pPr marL="0" marR="249239" lvl="0" indent="0" algn="ctr" rtl="0">
                <a:lnSpc>
                  <a:spcPct val="95800"/>
                </a:lnSpc>
                <a:spcBef>
                  <a:spcPts val="0"/>
                </a:spcBef>
                <a:spcAft>
                  <a:spcPts val="0"/>
                </a:spcAft>
                <a:buNone/>
              </a:pPr>
              <a:r>
                <a:rPr lang="en-US" sz="4529">
                  <a:solidFill>
                    <a:srgbClr val="F2F2F2"/>
                  </a:solidFill>
                  <a:latin typeface="Arial Black"/>
                  <a:ea typeface="Arial Black"/>
                  <a:cs typeface="Arial Black"/>
                  <a:sym typeface="Arial Black"/>
                </a:rPr>
                <a:t>Future Scope</a:t>
              </a:r>
              <a:endParaRPr/>
            </a:p>
          </p:txBody>
        </p:sp>
        <p:sp>
          <p:nvSpPr>
            <p:cNvPr id="95" name="Google Shape;95;p1"/>
            <p:cNvSpPr txBox="1"/>
            <p:nvPr/>
          </p:nvSpPr>
          <p:spPr>
            <a:xfrm>
              <a:off x="17435834" y="26375902"/>
              <a:ext cx="7536539" cy="752160"/>
            </a:xfrm>
            <a:prstGeom prst="rect">
              <a:avLst/>
            </a:prstGeom>
            <a:solidFill>
              <a:srgbClr val="205867"/>
            </a:solidFill>
            <a:ln>
              <a:noFill/>
            </a:ln>
          </p:spPr>
          <p:txBody>
            <a:bodyPr spcFirstLastPara="1" wrap="square" lIns="91425" tIns="45700" rIns="91425" bIns="45700" anchor="t" anchorCtr="0">
              <a:spAutoFit/>
            </a:bodyPr>
            <a:lstStyle/>
            <a:p>
              <a:pPr marL="0" marR="249239" lvl="0" indent="0" algn="ctr" rtl="0">
                <a:lnSpc>
                  <a:spcPct val="95800"/>
                </a:lnSpc>
                <a:spcBef>
                  <a:spcPts val="0"/>
                </a:spcBef>
                <a:spcAft>
                  <a:spcPts val="0"/>
                </a:spcAft>
                <a:buNone/>
              </a:pPr>
              <a:r>
                <a:rPr lang="en-US" sz="4529">
                  <a:solidFill>
                    <a:srgbClr val="F2F2F2"/>
                  </a:solidFill>
                  <a:latin typeface="Arial Black"/>
                  <a:ea typeface="Arial Black"/>
                  <a:cs typeface="Arial Black"/>
                  <a:sym typeface="Arial Black"/>
                </a:rPr>
                <a:t>Prototype</a:t>
              </a:r>
              <a:endParaRPr/>
            </a:p>
          </p:txBody>
        </p:sp>
        <p:sp>
          <p:nvSpPr>
            <p:cNvPr id="96" name="Google Shape;96;p1"/>
            <p:cNvSpPr txBox="1"/>
            <p:nvPr/>
          </p:nvSpPr>
          <p:spPr>
            <a:xfrm>
              <a:off x="17406303" y="39094472"/>
              <a:ext cx="7536538" cy="752160"/>
            </a:xfrm>
            <a:prstGeom prst="rect">
              <a:avLst/>
            </a:prstGeom>
            <a:solidFill>
              <a:srgbClr val="205867"/>
            </a:solidFill>
            <a:ln>
              <a:noFill/>
            </a:ln>
          </p:spPr>
          <p:txBody>
            <a:bodyPr spcFirstLastPara="1" wrap="square" lIns="91425" tIns="45700" rIns="91425" bIns="45700" anchor="t" anchorCtr="0">
              <a:spAutoFit/>
            </a:bodyPr>
            <a:lstStyle/>
            <a:p>
              <a:pPr marL="0" marR="249239" lvl="0" indent="0" algn="ctr" rtl="0">
                <a:lnSpc>
                  <a:spcPct val="95800"/>
                </a:lnSpc>
                <a:spcBef>
                  <a:spcPts val="0"/>
                </a:spcBef>
                <a:spcAft>
                  <a:spcPts val="0"/>
                </a:spcAft>
                <a:buNone/>
              </a:pPr>
              <a:r>
                <a:rPr lang="en-US" sz="4529">
                  <a:solidFill>
                    <a:srgbClr val="F2F2F2"/>
                  </a:solidFill>
                  <a:latin typeface="Arial Black"/>
                  <a:ea typeface="Arial Black"/>
                  <a:cs typeface="Arial Black"/>
                  <a:sym typeface="Arial Black"/>
                </a:rPr>
                <a:t>References</a:t>
              </a:r>
              <a:endParaRPr/>
            </a:p>
          </p:txBody>
        </p:sp>
        <p:sp>
          <p:nvSpPr>
            <p:cNvPr id="97" name="Google Shape;97;p1"/>
            <p:cNvSpPr txBox="1"/>
            <p:nvPr/>
          </p:nvSpPr>
          <p:spPr>
            <a:xfrm>
              <a:off x="17742338" y="27487935"/>
              <a:ext cx="8484071" cy="3469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latin typeface="Times New Roman"/>
                  <a:ea typeface="Times New Roman"/>
                  <a:cs typeface="Times New Roman"/>
                  <a:sym typeface="Times New Roman"/>
                </a:rPr>
                <a:t>MOBILE TRACKER WEBSITE PAGE</a:t>
              </a:r>
              <a:endParaRPr/>
            </a:p>
          </p:txBody>
        </p:sp>
        <p:pic>
          <p:nvPicPr>
            <p:cNvPr id="98" name="Google Shape;98;p1"/>
            <p:cNvPicPr preferRelativeResize="0"/>
            <p:nvPr/>
          </p:nvPicPr>
          <p:blipFill rotWithShape="1">
            <a:blip r:embed="rId8">
              <a:alphaModFix/>
            </a:blip>
            <a:srcRect/>
            <a:stretch/>
          </p:blipFill>
          <p:spPr>
            <a:xfrm>
              <a:off x="17382217" y="27981508"/>
              <a:ext cx="10049782" cy="7681207"/>
            </a:xfrm>
            <a:prstGeom prst="rect">
              <a:avLst/>
            </a:prstGeom>
            <a:noFill/>
            <a:ln>
              <a:noFill/>
            </a:ln>
          </p:spPr>
        </p:pic>
        <p:sp>
          <p:nvSpPr>
            <p:cNvPr id="99" name="Google Shape;99;p1"/>
            <p:cNvSpPr txBox="1"/>
            <p:nvPr/>
          </p:nvSpPr>
          <p:spPr>
            <a:xfrm>
              <a:off x="61889" y="43434132"/>
              <a:ext cx="27538800" cy="871200"/>
            </a:xfrm>
            <a:prstGeom prst="rect">
              <a:avLst/>
            </a:prstGeom>
            <a:solidFill>
              <a:srgbClr val="00B050"/>
            </a:solidFill>
            <a:ln>
              <a:noFill/>
            </a:ln>
          </p:spPr>
          <p:txBody>
            <a:bodyPr spcFirstLastPara="1" wrap="square" lIns="0" tIns="25150" rIns="0" bIns="0" anchor="t" anchorCtr="0">
              <a:spAutoFit/>
            </a:bodyPr>
            <a:lstStyle/>
            <a:p>
              <a:pPr marL="0" marR="274403" lvl="0" indent="0" algn="l" rtl="0">
                <a:spcBef>
                  <a:spcPts val="0"/>
                </a:spcBef>
                <a:spcAft>
                  <a:spcPts val="0"/>
                </a:spcAft>
                <a:buNone/>
              </a:pPr>
              <a:r>
                <a:rPr lang="en-US" sz="3600" b="1">
                  <a:solidFill>
                    <a:schemeClr val="lt1"/>
                  </a:solidFill>
                  <a:latin typeface="Times New Roman"/>
                  <a:ea typeface="Times New Roman"/>
                  <a:cs typeface="Times New Roman"/>
                  <a:sym typeface="Times New Roman"/>
                </a:rPr>
                <a:t>Presented By:- ABC (241133107029),XYZ (241133107030),</a:t>
              </a:r>
              <a:endParaRPr/>
            </a:p>
            <a:p>
              <a:pPr marL="0" marR="274403" lvl="0" indent="0" algn="l" rtl="0">
                <a:spcBef>
                  <a:spcPts val="198"/>
                </a:spcBef>
                <a:spcAft>
                  <a:spcPts val="0"/>
                </a:spcAft>
                <a:buNone/>
              </a:pPr>
              <a:r>
                <a:rPr lang="en-US" sz="3600" b="1">
                  <a:solidFill>
                    <a:schemeClr val="lt1"/>
                  </a:solidFill>
                  <a:latin typeface="Times New Roman"/>
                  <a:ea typeface="Times New Roman"/>
                  <a:cs typeface="Times New Roman"/>
                  <a:sym typeface="Times New Roman"/>
                </a:rPr>
                <a:t>Guided By:- Prof. Jui Khamar</a:t>
              </a:r>
              <a:endParaRPr/>
            </a:p>
          </p:txBody>
        </p:sp>
      </p:grpSp>
      <p:pic>
        <p:nvPicPr>
          <p:cNvPr id="100" name="Google Shape;100;p1"/>
          <p:cNvPicPr preferRelativeResize="0"/>
          <p:nvPr/>
        </p:nvPicPr>
        <p:blipFill rotWithShape="1">
          <a:blip r:embed="rId9">
            <a:alphaModFix/>
          </a:blip>
          <a:srcRect/>
          <a:stretch/>
        </p:blipFill>
        <p:spPr>
          <a:xfrm>
            <a:off x="17126949" y="39521231"/>
            <a:ext cx="6248399" cy="3763588"/>
          </a:xfrm>
          <a:prstGeom prst="rect">
            <a:avLst/>
          </a:prstGeom>
          <a:noFill/>
          <a:ln>
            <a:noFill/>
          </a:ln>
        </p:spPr>
      </p:pic>
      <p:sp>
        <p:nvSpPr>
          <p:cNvPr id="101" name="Google Shape;101;p1"/>
          <p:cNvSpPr txBox="1"/>
          <p:nvPr/>
        </p:nvSpPr>
        <p:spPr>
          <a:xfrm>
            <a:off x="17451593" y="39132751"/>
            <a:ext cx="789452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latin typeface="Times New Roman"/>
                <a:ea typeface="Times New Roman"/>
                <a:cs typeface="Times New Roman"/>
                <a:sym typeface="Times New Roman"/>
              </a:rPr>
              <a:t>MOBILE LOGO</a:t>
            </a:r>
            <a:endParaRPr/>
          </a:p>
        </p:txBody>
      </p:sp>
      <p:pic>
        <p:nvPicPr>
          <p:cNvPr id="102" name="Google Shape;102;p1"/>
          <p:cNvPicPr preferRelativeResize="0"/>
          <p:nvPr/>
        </p:nvPicPr>
        <p:blipFill rotWithShape="1">
          <a:blip r:embed="rId10">
            <a:alphaModFix/>
          </a:blip>
          <a:srcRect/>
          <a:stretch/>
        </p:blipFill>
        <p:spPr>
          <a:xfrm>
            <a:off x="11159570" y="1333278"/>
            <a:ext cx="5112860" cy="2465313"/>
          </a:xfrm>
          <a:prstGeom prst="rect">
            <a:avLst/>
          </a:prstGeom>
          <a:noFill/>
          <a:ln>
            <a:noFill/>
          </a:ln>
        </p:spPr>
      </p:pic>
      <p:pic>
        <p:nvPicPr>
          <p:cNvPr id="8" name="Picture 7">
            <a:extLst>
              <a:ext uri="{FF2B5EF4-FFF2-40B4-BE49-F238E27FC236}">
                <a16:creationId xmlns:a16="http://schemas.microsoft.com/office/drawing/2014/main" id="{68AB5FA0-997B-88FF-6699-A79D1EE6150D}"/>
              </a:ext>
            </a:extLst>
          </p:cNvPr>
          <p:cNvPicPr>
            <a:picLocks noChangeAspect="1"/>
          </p:cNvPicPr>
          <p:nvPr/>
        </p:nvPicPr>
        <p:blipFill>
          <a:blip r:embed="rId11"/>
          <a:stretch>
            <a:fillRect/>
          </a:stretch>
        </p:blipFill>
        <p:spPr>
          <a:xfrm>
            <a:off x="1147611" y="-6435245"/>
            <a:ext cx="27552257" cy="512826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1105</Words>
  <Application>Microsoft Office PowerPoint</Application>
  <PresentationFormat>Custom</PresentationFormat>
  <Paragraphs>46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Times New Roman</vt:lpstr>
      <vt:lpstr>Inter</vt:lpstr>
      <vt:lpstr>Calibri</vt:lpstr>
      <vt:lpstr>Arial</vt:lpstr>
      <vt:lpstr>Arial Black</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Tejas Patel</dc:creator>
  <cp:lastModifiedBy>kuldeep rathod</cp:lastModifiedBy>
  <cp:revision>2</cp:revision>
  <dcterms:created xsi:type="dcterms:W3CDTF">2024-03-11T09:47:49Z</dcterms:created>
  <dcterms:modified xsi:type="dcterms:W3CDTF">2026-04-19T18:15:37Z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2024-02-28T00:00:00Z</vt:filetime>
  </property>
  <property fmtid="{D5CDD505-2E9C-101B-9397-08002B2CF9AE}" pid="3" name="Creator">
    <vt:lpwstr>Microsoft® Word 2016</vt:lpwstr>
  </property>
  <property fmtid="{D5CDD505-2E9C-101B-9397-08002B2CF9AE}" pid="4" name="LastSaved">
    <vt:filetime>2024-03-11T00:00:00Z</vt:filetime>
  </property>
</Properties>
</file>